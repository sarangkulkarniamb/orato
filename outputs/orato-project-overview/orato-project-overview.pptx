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frame for the project. Establishes that Orato is both a product concept and a working technical system assembled from the repo's frontend, backend, and AI services.</a:t>
            </a:r>
          </a:p>
          <a:p>
            <a:endParaRPr/>
          </a:p>
          <a:p>
            <a:r>
              <a:t>[Sources]</a:t>
            </a:r>
          </a:p>
          <a:p>
            <a:r>
              <a:t>- Frontend routes and UX: orato-fe/src/app/App.tsx, pages/Landing.tsx, pages/Library.tsx, pages/Presentation.tsx, store/authStore.ts</a:t>
            </a:r>
          </a:p>
          <a:p>
            <a:r>
              <a:t>- Backend API and app boot: orato-be/main.py, orato-be/http_routes.py, orato-be/auth.py, orato-be/database.py</a:t>
            </a:r>
          </a:p>
          <a:p>
            <a:r>
              <a:t>- Realtime voice handling: orato-be/websocket_routes.py</a:t>
            </a:r>
          </a:p>
          <a:p>
            <a:r>
              <a:t>- Retrieval and command reasoning: orato-be/retreival_pipeline.py, orato-be/llm_reasoner.py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Explains the user-facing value proposition visible in the landing page and presentation experience. The slide converts UI features into a clear product story.</a:t>
            </a:r>
          </a:p>
          <a:p>
            <a:endParaRPr/>
          </a:p>
          <a:p>
            <a:r>
              <a:t>[Sources]</a:t>
            </a:r>
          </a:p>
          <a:p>
            <a:r>
              <a:t>- Frontend routes and UX: orato-fe/src/app/App.tsx, pages/Landing.tsx, pages/Library.tsx, pages/Presentation.tsx, store/authStore.ts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Maps the visible product experience to backend processing. This is the best slide for explaining Orato to a non-technical audience before diving into architecture.</a:t>
            </a:r>
          </a:p>
          <a:p>
            <a:endParaRPr/>
          </a:p>
          <a:p>
            <a:r>
              <a:t>[Sources]</a:t>
            </a:r>
          </a:p>
          <a:p>
            <a:r>
              <a:t>- Frontend routes and UX: orato-fe/src/app/App.tsx, pages/Landing.tsx, pages/Library.tsx, pages/Presentation.tsx, store/authStore.ts</a:t>
            </a:r>
          </a:p>
          <a:p>
            <a:r>
              <a:t>- Backend API and app boot: orato-be/main.py, orato-be/http_routes.py, orato-be/auth.py, orato-be/database.py</a:t>
            </a:r>
          </a:p>
          <a:p>
            <a:r>
              <a:t>- Parsing and vectorization: orato-be/parsing.py, orato-be/ingestion_pipeline.py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High-level technical map of the project. Connects the repo's modules into four understandable layers so reviewers can immediately place each subsystem.</a:t>
            </a:r>
          </a:p>
          <a:p>
            <a:endParaRPr/>
          </a:p>
          <a:p>
            <a:r>
              <a:t>[Sources]</a:t>
            </a:r>
          </a:p>
          <a:p>
            <a:r>
              <a:t>- Frontend routes and UX: orato-fe/src/app/App.tsx, pages/Landing.tsx, pages/Library.tsx, pages/Presentation.tsx, store/authStore.ts</a:t>
            </a:r>
          </a:p>
          <a:p>
            <a:r>
              <a:t>- Backend API and app boot: orato-be/main.py, orato-be/http_routes.py, orato-be/auth.py, orato-be/database.py</a:t>
            </a:r>
          </a:p>
          <a:p>
            <a:r>
              <a:t>- Realtime voice handling: orato-be/websocket_routes.py</a:t>
            </a:r>
          </a:p>
          <a:p>
            <a:r>
              <a:t>- Retrieval and command reasoning: orato-be/retreival_pipeline.py, orato-be/llm_reasoner.py</a:t>
            </a:r>
          </a:p>
          <a:p>
            <a:r>
              <a:t>- Parsing and vectorization: orato-be/parsing.py, orato-be/ingestion_pipeline.py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the technical core of the live experience. It shows how websocket_routes.py separates low-latency interim previews from final command execution.</a:t>
            </a:r>
          </a:p>
          <a:p>
            <a:endParaRPr/>
          </a:p>
          <a:p>
            <a:r>
              <a:t>[Sources]</a:t>
            </a:r>
          </a:p>
          <a:p>
            <a:r>
              <a:t>- Realtime voice handling: orato-be/websocket_routes.py</a:t>
            </a:r>
          </a:p>
          <a:p>
            <a:r>
              <a:t>- Retrieval and command reasoning: orato-be/retreival_pipeline.py, orato-be/llm_reasoner.py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Summarizes the intelligence layer that sits underneath the user experience: parsing, vector search, intent reasoning, contextual search, and summary generation.</a:t>
            </a:r>
          </a:p>
          <a:p>
            <a:endParaRPr/>
          </a:p>
          <a:p>
            <a:r>
              <a:t>[Sources]</a:t>
            </a:r>
          </a:p>
          <a:p>
            <a:r>
              <a:t>- Parsing and vectorization: orato-be/parsing.py, orato-be/ingestion_pipeline.py</a:t>
            </a:r>
          </a:p>
          <a:p>
            <a:r>
              <a:t>- Retrieval and command reasoning: orato-be/retreival_pipeline.py, orato-be/llm_reasoner.py</a:t>
            </a:r>
          </a:p>
          <a:p>
            <a:r>
              <a:t>- Backend API and app boot: orato-be/main.py, orato-be/http_routes.py, orato-be/auth.py, orato-be/database.py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Useful review slide for explaining exactly what technologies and endpoints the repo currently uses without overwhelming the audience with code.</a:t>
            </a:r>
          </a:p>
          <a:p>
            <a:endParaRPr/>
          </a:p>
          <a:p>
            <a:r>
              <a:t>[Sources]</a:t>
            </a:r>
          </a:p>
          <a:p>
            <a:r>
              <a:t>- Frontend routes and UX: orato-fe/src/app/App.tsx, pages/Landing.tsx, pages/Library.tsx, pages/Presentation.tsx, store/authStore.ts</a:t>
            </a:r>
          </a:p>
          <a:p>
            <a:r>
              <a:t>- Backend API and app boot: orato-be/main.py, orato-be/http_routes.py, orato-be/auth.py, orato-be/database.py</a:t>
            </a:r>
          </a:p>
          <a:p>
            <a:r>
              <a:t>- Realtime voice handling: orato-be/websocket_routes.py</a:t>
            </a:r>
          </a:p>
          <a:p>
            <a:r>
              <a:t>- Retrieval and command reasoning: orato-be/retreival_pipeline.py, orato-be/llm_reasoner.py</a:t>
            </a:r>
          </a:p>
          <a:p>
            <a:r>
              <a:t>- Parsing and vectorization: orato-be/parsing.py, orato-be/ingestion_pipeline.py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Closes the presentation with an honest assessment. This helps explain the project 'properly' by showing both what works and what deserves future engineering attention.</a:t>
            </a:r>
          </a:p>
          <a:p>
            <a:endParaRPr/>
          </a:p>
          <a:p>
            <a:r>
              <a:t>[Sources]</a:t>
            </a:r>
          </a:p>
          <a:p>
            <a:r>
              <a:t>- Frontend routes and UX: orato-fe/src/app/App.tsx, pages/Landing.tsx, pages/Library.tsx, pages/Presentation.tsx, store/authStore.ts</a:t>
            </a:r>
          </a:p>
          <a:p>
            <a:r>
              <a:t>- Backend API and app boot: orato-be/main.py, orato-be/http_routes.py, orato-be/auth.py, orato-be/database.py</a:t>
            </a:r>
          </a:p>
          <a:p>
            <a:r>
              <a:t>- Realtime voice handling: orato-be/websocket_routes.py</a:t>
            </a:r>
          </a:p>
          <a:p>
            <a:r>
              <a:t>- Retrieval and command reasoning: orato-be/retreival_pipeline.py, orato-be/llm_reasoner.py</a:t>
            </a:r>
          </a:p>
          <a:p>
            <a:r>
              <a:t>- Parsing and vectorization: orato-be/parsing.py, orato-be/ingestion_pipeline.py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A36458-0081-4C0A-BE2E-762F2489A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1F8095-B2CC-431A-8EC7-6F00F6EB5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E1645F0-4DAF-41C5-A823-2B27D83744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06CB96B-04E1-4AEE-B689-6841D71F03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1042D4-7A77-4E15-9E31-21E0E54B72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0EF187-CADF-4F5E-94A6-E0EFF10E689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E0399A7-C2F4-4D50-9C5C-3BCEAE1800F2}"/>
              </a:ext>
            </a:extLst>
          </p:cNvPr>
          <p:cNvSpPr>
            <a:spLocks noGrp="1"/>
          </p:cNvSpPr>
          <p:nvPr/>
        </p:nvSpPr>
        <p:spPr>
          <a:xfrm>
            <a:off x="-1247775" y="-1515162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B5F3DC-E68F-48E1-8596-3022A5F48D6C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250F4C-D9EA-4616-9362-768DEF0029EA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E658F7-4089-45DF-BA74-57A0C00516CC}"/>
              </a:ext>
            </a:extLst>
          </p:cNvPr>
          <p:cNvSpPr>
            <a:spLocks noGrp="1"/>
          </p:cNvSpPr>
          <p:nvPr/>
        </p:nvSpPr>
        <p:spPr>
          <a:xfrm>
            <a:off x="514350" y="540469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EFBD5D-3407-4FD8-9595-376832D2C82D}"/>
              </a:ext>
            </a:extLst>
          </p:cNvPr>
          <p:cNvSpPr>
            <a:spLocks noGrp="1"/>
          </p:cNvSpPr>
          <p:nvPr/>
        </p:nvSpPr>
        <p:spPr>
          <a:xfrm>
            <a:off x="711478" y="1711357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8FAFF"/>
                </a:solidFill>
              </a:defRPr>
            </a:pPr>
            <a:r>
              <a:rPr sz="3000" b="1" dirty="0">
                <a:solidFill>
                  <a:srgbClr val="F8FAFF"/>
                </a:solidFill>
              </a:rPr>
              <a:t>ORATO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273B65-016D-4AED-9F4A-F367977D851D}"/>
              </a:ext>
            </a:extLst>
          </p:cNvPr>
          <p:cNvSpPr>
            <a:spLocks noGrp="1"/>
          </p:cNvSpPr>
          <p:nvPr/>
        </p:nvSpPr>
        <p:spPr>
          <a:xfrm>
            <a:off x="711478" y="2274019"/>
            <a:ext cx="6286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300" b="1">
                <a:solidFill>
                  <a:srgbClr val="F8FAFF"/>
                </a:solidFill>
              </a:defRPr>
            </a:pPr>
            <a:r>
              <a:rPr lang="en-US" sz="1600" dirty="0" err="1">
                <a:solidFill>
                  <a:srgbClr val="D9E2F2"/>
                </a:solidFill>
              </a:rPr>
              <a:t>Orato</a:t>
            </a:r>
            <a:r>
              <a:rPr lang="en-US" sz="1600" dirty="0">
                <a:solidFill>
                  <a:srgbClr val="D9E2F2"/>
                </a:solidFill>
              </a:rPr>
              <a:t> turns static PDF presentations into an interactive, voice-controlled experience with live navigation, highlighting, zoom, contextual web search, and lecture summary export</a:t>
            </a:r>
            <a:endParaRPr lang="en-US" sz="3600" dirty="0">
              <a:solidFill>
                <a:srgbClr val="D9E2F2"/>
              </a:solidFill>
            </a:endParaRPr>
          </a:p>
          <a:p>
            <a:pPr algn="l">
              <a:defRPr sz="3300" b="1">
                <a:solidFill>
                  <a:srgbClr val="F8FAFF"/>
                </a:solidFill>
              </a:defRPr>
            </a:pPr>
            <a:endParaRPr sz="3300" b="1" dirty="0">
              <a:solidFill>
                <a:srgbClr val="F8FA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E3D923-C406-4B0F-B3D1-54C6AA67C479}"/>
              </a:ext>
            </a:extLst>
          </p:cNvPr>
          <p:cNvSpPr>
            <a:spLocks noGrp="1"/>
          </p:cNvSpPr>
          <p:nvPr/>
        </p:nvSpPr>
        <p:spPr>
          <a:xfrm>
            <a:off x="714907" y="3446281"/>
            <a:ext cx="2952750" cy="1352550"/>
          </a:xfrm>
          <a:prstGeom prst="roundRect">
            <a:avLst>
              <a:gd name="adj" fmla="val 5634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596B68-DCFC-467D-A14E-013B6DBF84CC}"/>
              </a:ext>
            </a:extLst>
          </p:cNvPr>
          <p:cNvSpPr>
            <a:spLocks noGrp="1"/>
          </p:cNvSpPr>
          <p:nvPr/>
        </p:nvSpPr>
        <p:spPr>
          <a:xfrm>
            <a:off x="673378" y="3436069"/>
            <a:ext cx="76200" cy="135255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6431FF-B928-437C-9D67-BB7365F9A7D5}"/>
              </a:ext>
            </a:extLst>
          </p:cNvPr>
          <p:cNvSpPr>
            <a:spLocks noGrp="1"/>
          </p:cNvSpPr>
          <p:nvPr/>
        </p:nvSpPr>
        <p:spPr>
          <a:xfrm>
            <a:off x="882928" y="3664669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873F71-9735-440C-849B-809EA457AE36}"/>
              </a:ext>
            </a:extLst>
          </p:cNvPr>
          <p:cNvSpPr>
            <a:spLocks noGrp="1"/>
          </p:cNvSpPr>
          <p:nvPr/>
        </p:nvSpPr>
        <p:spPr>
          <a:xfrm>
            <a:off x="940078" y="3721819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B21797B-3B4F-4E72-8B33-08A1F1FC462B}"/>
              </a:ext>
            </a:extLst>
          </p:cNvPr>
          <p:cNvSpPr>
            <a:spLocks noGrp="1"/>
          </p:cNvSpPr>
          <p:nvPr/>
        </p:nvSpPr>
        <p:spPr>
          <a:xfrm>
            <a:off x="1035328" y="3798019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121294-3DA2-4255-88B1-670E860E423A}"/>
              </a:ext>
            </a:extLst>
          </p:cNvPr>
          <p:cNvSpPr>
            <a:spLocks noGrp="1"/>
          </p:cNvSpPr>
          <p:nvPr/>
        </p:nvSpPr>
        <p:spPr>
          <a:xfrm>
            <a:off x="987703" y="3759919"/>
            <a:ext cx="85725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F523E1-0886-4235-8F20-63598950E100}"/>
              </a:ext>
            </a:extLst>
          </p:cNvPr>
          <p:cNvSpPr>
            <a:spLocks noGrp="1"/>
          </p:cNvSpPr>
          <p:nvPr/>
        </p:nvSpPr>
        <p:spPr>
          <a:xfrm>
            <a:off x="1302028" y="3626569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>
                <a:solidFill>
                  <a:srgbClr val="F8FAFF"/>
                </a:solidFill>
              </a:rPr>
              <a:t>Core promise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94B8F1-881C-4742-88DD-561F4161F6FD}"/>
              </a:ext>
            </a:extLst>
          </p:cNvPr>
          <p:cNvSpPr>
            <a:spLocks noGrp="1"/>
          </p:cNvSpPr>
          <p:nvPr/>
        </p:nvSpPr>
        <p:spPr>
          <a:xfrm>
            <a:off x="901978" y="4007569"/>
            <a:ext cx="2495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Present naturally while </a:t>
            </a:r>
            <a:r>
              <a:rPr sz="1200" b="0" dirty="0" err="1">
                <a:solidFill>
                  <a:srgbClr val="D9E2F2"/>
                </a:solidFill>
              </a:rPr>
              <a:t>Orato</a:t>
            </a:r>
            <a:endParaRPr sz="1200" b="0" dirty="0">
              <a:solidFill>
                <a:srgbClr val="D9E2F2"/>
              </a:solidFill>
            </a:endParaRP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listens and controls the document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for you.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CF2E2C-EF54-460E-8822-5C37A2E795C0}"/>
              </a:ext>
            </a:extLst>
          </p:cNvPr>
          <p:cNvSpPr>
            <a:spLocks noGrp="1"/>
          </p:cNvSpPr>
          <p:nvPr/>
        </p:nvSpPr>
        <p:spPr>
          <a:xfrm>
            <a:off x="3797578" y="3436069"/>
            <a:ext cx="2952750" cy="1352550"/>
          </a:xfrm>
          <a:prstGeom prst="roundRect">
            <a:avLst>
              <a:gd name="adj" fmla="val 5634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60809C-151B-4142-B646-A9CC21FD3A96}"/>
              </a:ext>
            </a:extLst>
          </p:cNvPr>
          <p:cNvSpPr>
            <a:spLocks noGrp="1"/>
          </p:cNvSpPr>
          <p:nvPr/>
        </p:nvSpPr>
        <p:spPr>
          <a:xfrm>
            <a:off x="3797578" y="3436069"/>
            <a:ext cx="76200" cy="13525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BFD7766-3022-43DA-A070-9A838BD4D42D}"/>
              </a:ext>
            </a:extLst>
          </p:cNvPr>
          <p:cNvSpPr>
            <a:spLocks noGrp="1"/>
          </p:cNvSpPr>
          <p:nvPr/>
        </p:nvSpPr>
        <p:spPr>
          <a:xfrm>
            <a:off x="4007128" y="3664669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50AE94-BFDD-4B26-9549-2BB254E9EE61}"/>
              </a:ext>
            </a:extLst>
          </p:cNvPr>
          <p:cNvSpPr>
            <a:spLocks noGrp="1"/>
          </p:cNvSpPr>
          <p:nvPr/>
        </p:nvSpPr>
        <p:spPr>
          <a:xfrm>
            <a:off x="4054753" y="3712294"/>
            <a:ext cx="1333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05FA5F-7842-437E-9371-1BF8397E66F6}"/>
              </a:ext>
            </a:extLst>
          </p:cNvPr>
          <p:cNvSpPr>
            <a:spLocks noGrp="1"/>
          </p:cNvSpPr>
          <p:nvPr/>
        </p:nvSpPr>
        <p:spPr>
          <a:xfrm>
            <a:off x="4026178" y="3788494"/>
            <a:ext cx="1905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495488-44E7-4E01-8E11-4B049D9B5F96}"/>
              </a:ext>
            </a:extLst>
          </p:cNvPr>
          <p:cNvSpPr>
            <a:spLocks noGrp="1"/>
          </p:cNvSpPr>
          <p:nvPr/>
        </p:nvSpPr>
        <p:spPr>
          <a:xfrm>
            <a:off x="4073803" y="3864694"/>
            <a:ext cx="95250" cy="381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F0C0B2-BFE2-4942-BB89-4196650C74FA}"/>
              </a:ext>
            </a:extLst>
          </p:cNvPr>
          <p:cNvSpPr>
            <a:spLocks noGrp="1"/>
          </p:cNvSpPr>
          <p:nvPr/>
        </p:nvSpPr>
        <p:spPr>
          <a:xfrm>
            <a:off x="4426228" y="3626569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>
                <a:solidFill>
                  <a:srgbClr val="F8FAFF"/>
                </a:solidFill>
              </a:rPr>
              <a:t>Primary inputs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20CC96-0607-48E4-B6CD-0E315D820B65}"/>
              </a:ext>
            </a:extLst>
          </p:cNvPr>
          <p:cNvSpPr>
            <a:spLocks noGrp="1"/>
          </p:cNvSpPr>
          <p:nvPr/>
        </p:nvSpPr>
        <p:spPr>
          <a:xfrm>
            <a:off x="4026178" y="4007569"/>
            <a:ext cx="2495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PDF files, microphone audio, user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identity, and live session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context.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9F01F83-54A2-49C1-ABB8-B930AAA1E243}"/>
              </a:ext>
            </a:extLst>
          </p:cNvPr>
          <p:cNvSpPr>
            <a:spLocks noGrp="1"/>
          </p:cNvSpPr>
          <p:nvPr/>
        </p:nvSpPr>
        <p:spPr>
          <a:xfrm>
            <a:off x="6978928" y="3446281"/>
            <a:ext cx="4343400" cy="1352550"/>
          </a:xfrm>
          <a:prstGeom prst="roundRect">
            <a:avLst>
              <a:gd name="adj" fmla="val 5634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7395D0-357A-43F8-A873-2821417A05F2}"/>
              </a:ext>
            </a:extLst>
          </p:cNvPr>
          <p:cNvSpPr>
            <a:spLocks noGrp="1"/>
          </p:cNvSpPr>
          <p:nvPr/>
        </p:nvSpPr>
        <p:spPr>
          <a:xfrm>
            <a:off x="6921778" y="3436069"/>
            <a:ext cx="76200" cy="13525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2FE7CF9-1A23-4526-8C97-1F737E600BB3}"/>
              </a:ext>
            </a:extLst>
          </p:cNvPr>
          <p:cNvSpPr>
            <a:spLocks noGrp="1"/>
          </p:cNvSpPr>
          <p:nvPr/>
        </p:nvSpPr>
        <p:spPr>
          <a:xfrm>
            <a:off x="7131328" y="3664669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F892C2-5328-4494-86D3-17ACCF613E58}"/>
              </a:ext>
            </a:extLst>
          </p:cNvPr>
          <p:cNvSpPr>
            <a:spLocks noGrp="1"/>
          </p:cNvSpPr>
          <p:nvPr/>
        </p:nvSpPr>
        <p:spPr>
          <a:xfrm>
            <a:off x="7217053" y="3750394"/>
            <a:ext cx="95250" cy="95250"/>
          </a:xfrm>
          <a:prstGeom prst="ellipse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E7762D-3507-4149-BD21-23A5EA63BFE9}"/>
              </a:ext>
            </a:extLst>
          </p:cNvPr>
          <p:cNvSpPr>
            <a:spLocks noGrp="1"/>
          </p:cNvSpPr>
          <p:nvPr/>
        </p:nvSpPr>
        <p:spPr>
          <a:xfrm>
            <a:off x="7547380" y="3702769"/>
            <a:ext cx="3543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 dirty="0">
                <a:solidFill>
                  <a:srgbClr val="F8FAFF"/>
                </a:solidFill>
              </a:rPr>
              <a:t>Output experience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7AB2CB-449C-442F-A133-BDC67EA9C16B}"/>
              </a:ext>
            </a:extLst>
          </p:cNvPr>
          <p:cNvSpPr>
            <a:spLocks noGrp="1"/>
          </p:cNvSpPr>
          <p:nvPr/>
        </p:nvSpPr>
        <p:spPr>
          <a:xfrm>
            <a:off x="7204480" y="4083769"/>
            <a:ext cx="3886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Voice-driven navigation, highlights, inspection,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200" b="0" dirty="0">
                <a:solidFill>
                  <a:srgbClr val="D9E2F2"/>
                </a:solidFill>
              </a:rPr>
              <a:t>search mode, and summary export.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211EA2B-45D9-4EE7-B655-17E3AF41694C}"/>
              </a:ext>
            </a:extLst>
          </p:cNvPr>
          <p:cNvSpPr>
            <a:spLocks noGrp="1"/>
          </p:cNvSpPr>
          <p:nvPr/>
        </p:nvSpPr>
        <p:spPr>
          <a:xfrm>
            <a:off x="8039862" y="5383691"/>
            <a:ext cx="3159252" cy="76111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F8097"/>
                </a:solidFill>
              </a:defRPr>
            </a:pPr>
            <a:r>
              <a:rPr lang="en-US" sz="1500" dirty="0">
                <a:solidFill>
                  <a:srgbClr val="6F8097"/>
                </a:solidFill>
              </a:rPr>
              <a:t>By:</a:t>
            </a:r>
            <a:br>
              <a:rPr lang="en-US" sz="1500" dirty="0">
                <a:solidFill>
                  <a:srgbClr val="6F8097"/>
                </a:solidFill>
              </a:rPr>
            </a:br>
            <a:r>
              <a:rPr lang="en-US" sz="1500" dirty="0">
                <a:solidFill>
                  <a:srgbClr val="6F8097"/>
                </a:solidFill>
              </a:rPr>
              <a:t>Kulkarni Sarang </a:t>
            </a:r>
            <a:r>
              <a:rPr lang="en-US" sz="1500" dirty="0" err="1">
                <a:solidFill>
                  <a:srgbClr val="6F8097"/>
                </a:solidFill>
              </a:rPr>
              <a:t>Sunilrao</a:t>
            </a:r>
            <a:r>
              <a:rPr lang="en-US" sz="1500" dirty="0">
                <a:solidFill>
                  <a:srgbClr val="6F8097"/>
                </a:solidFill>
              </a:rPr>
              <a:t> - 23ECB0A08</a:t>
            </a:r>
          </a:p>
          <a:p>
            <a:pPr algn="l">
              <a:defRPr sz="825" b="0">
                <a:solidFill>
                  <a:srgbClr val="6F8097"/>
                </a:solidFill>
              </a:defRPr>
            </a:pPr>
            <a:r>
              <a:rPr lang="en-US" sz="1500" b="0" dirty="0" err="1">
                <a:solidFill>
                  <a:srgbClr val="6F8097"/>
                </a:solidFill>
              </a:rPr>
              <a:t>Kanduri</a:t>
            </a:r>
            <a:r>
              <a:rPr lang="en-US" sz="1500" b="0" dirty="0">
                <a:solidFill>
                  <a:srgbClr val="6F8097"/>
                </a:solidFill>
              </a:rPr>
              <a:t> Vive</a:t>
            </a:r>
            <a:r>
              <a:rPr lang="en-US" sz="1500" dirty="0">
                <a:solidFill>
                  <a:srgbClr val="6F8097"/>
                </a:solidFill>
              </a:rPr>
              <a:t>k Kumar -23ECB0A09</a:t>
            </a:r>
            <a:endParaRPr sz="1500" b="0" dirty="0">
              <a:solidFill>
                <a:srgbClr val="6F8097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660D75-5C5B-07A7-0A1E-44248C59E164}"/>
              </a:ext>
            </a:extLst>
          </p:cNvPr>
          <p:cNvSpPr txBox="1"/>
          <p:nvPr/>
        </p:nvSpPr>
        <p:spPr>
          <a:xfrm>
            <a:off x="673378" y="951208"/>
            <a:ext cx="3197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Innovation and Startup activity</a:t>
            </a:r>
          </a:p>
        </p:txBody>
      </p:sp>
    </p:spTree>
    <p:extLst>
      <p:ext uri="{BB962C8B-B14F-4D97-AF65-F5344CB8AC3E}">
        <p14:creationId xmlns:p14="http://schemas.microsoft.com/office/powerpoint/2010/main" val="141980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31D5880-3370-43BC-886E-0175A3C5C247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BCDE024-2E00-4E1D-9A97-339F83A9BD48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4E10D46-BBCC-4938-8594-E36560C8EFE9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BCCCF-0A91-4CDE-BBED-55978BCA4241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6ACBD8-BE1D-46E9-B1CE-B85F75AEB946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PROBLEM AND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CE94A-E357-4AA9-9B97-3A82F484B5A2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02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AEC8F5-3098-41E1-81FD-194382BB4201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FD755-D663-492A-A4D1-FABF042B3D8C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>
                <a:solidFill>
                  <a:srgbClr val="F8FAFF"/>
                </a:solidFill>
              </a:rPr>
              <a:t>What problem does Orato solve?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8F3BEB-B483-45AB-93E8-68E11D6A3228}"/>
              </a:ext>
            </a:extLst>
          </p:cNvPr>
          <p:cNvSpPr>
            <a:spLocks noGrp="1"/>
          </p:cNvSpPr>
          <p:nvPr/>
        </p:nvSpPr>
        <p:spPr>
          <a:xfrm>
            <a:off x="800100" y="1864519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 dirty="0">
                <a:solidFill>
                  <a:srgbClr val="94A3B8"/>
                </a:solidFill>
              </a:rPr>
              <a:t>The project is built around one idea: presenters should not have to break flow to control a document.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8FE46E-4ECC-4DB5-97A2-1A494F33EC6F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238500" cy="3105150"/>
          </a:xfrm>
          <a:prstGeom prst="roundRect">
            <a:avLst>
              <a:gd name="adj" fmla="val 2454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339AE6-E5A5-4239-AF58-F0B1BFD7B475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76200" cy="31051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60DD3F-02A9-451B-BD2B-DA4546782FE2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825A78-DEF4-4413-BC9A-6DB3B486A159}"/>
              </a:ext>
            </a:extLst>
          </p:cNvPr>
          <p:cNvSpPr>
            <a:spLocks noGrp="1"/>
          </p:cNvSpPr>
          <p:nvPr/>
        </p:nvSpPr>
        <p:spPr>
          <a:xfrm>
            <a:off x="1095375" y="2657475"/>
            <a:ext cx="95250" cy="95250"/>
          </a:xfrm>
          <a:prstGeom prst="ellipse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C6F75-BA41-4D7E-9019-0F6435AEFBF7}"/>
              </a:ext>
            </a:extLst>
          </p:cNvPr>
          <p:cNvSpPr>
            <a:spLocks noGrp="1"/>
          </p:cNvSpPr>
          <p:nvPr/>
        </p:nvSpPr>
        <p:spPr>
          <a:xfrm>
            <a:off x="1428750" y="25908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Pain in traditional presenting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94B127-A4E2-4887-9204-F4040F9B56A4}"/>
              </a:ext>
            </a:extLst>
          </p:cNvPr>
          <p:cNvSpPr>
            <a:spLocks noGrp="1"/>
          </p:cNvSpPr>
          <p:nvPr/>
        </p:nvSpPr>
        <p:spPr>
          <a:xfrm>
            <a:off x="1028700" y="3109913"/>
            <a:ext cx="27813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Presenters keep switching attention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between speaking and operating the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interface. That creates friction when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changing slides, locating content,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zooming into diagrams, or answering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spontaneous questions.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7498EE-E51A-411F-9CB5-B8615712CF13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3238500" cy="3105150"/>
          </a:xfrm>
          <a:prstGeom prst="roundRect">
            <a:avLst>
              <a:gd name="adj" fmla="val 2454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3BFCD0-A19A-4303-A868-DC0A8AE93D57}"/>
              </a:ext>
            </a:extLst>
          </p:cNvPr>
          <p:cNvSpPr>
            <a:spLocks noGrp="1"/>
          </p:cNvSpPr>
          <p:nvPr/>
        </p:nvSpPr>
        <p:spPr>
          <a:xfrm>
            <a:off x="4476750" y="2343150"/>
            <a:ext cx="76200" cy="310515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B505F8-BF9A-4244-98C0-3D0886807A3A}"/>
              </a:ext>
            </a:extLst>
          </p:cNvPr>
          <p:cNvSpPr>
            <a:spLocks noGrp="1"/>
          </p:cNvSpPr>
          <p:nvPr/>
        </p:nvSpPr>
        <p:spPr>
          <a:xfrm>
            <a:off x="4686300" y="25717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F9A0BA-3568-4243-A941-A280516AE782}"/>
              </a:ext>
            </a:extLst>
          </p:cNvPr>
          <p:cNvSpPr>
            <a:spLocks noGrp="1"/>
          </p:cNvSpPr>
          <p:nvPr/>
        </p:nvSpPr>
        <p:spPr>
          <a:xfrm>
            <a:off x="4743450" y="262890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491968-35EA-4B1A-84FA-0D326D2F6DF0}"/>
              </a:ext>
            </a:extLst>
          </p:cNvPr>
          <p:cNvSpPr>
            <a:spLocks noGrp="1"/>
          </p:cNvSpPr>
          <p:nvPr/>
        </p:nvSpPr>
        <p:spPr>
          <a:xfrm>
            <a:off x="4838700" y="270510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EDE8B4-55E9-44FA-9DE1-0CFDC2BB89A6}"/>
              </a:ext>
            </a:extLst>
          </p:cNvPr>
          <p:cNvSpPr>
            <a:spLocks noGrp="1"/>
          </p:cNvSpPr>
          <p:nvPr/>
        </p:nvSpPr>
        <p:spPr>
          <a:xfrm>
            <a:off x="4791075" y="2667000"/>
            <a:ext cx="85725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7B5F0D-DFCD-485C-BCA2-842B662DD36B}"/>
              </a:ext>
            </a:extLst>
          </p:cNvPr>
          <p:cNvSpPr>
            <a:spLocks noGrp="1"/>
          </p:cNvSpPr>
          <p:nvPr/>
        </p:nvSpPr>
        <p:spPr>
          <a:xfrm>
            <a:off x="5105400" y="2590038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lang="en-US" sz="1400" b="1" dirty="0">
                <a:solidFill>
                  <a:srgbClr val="F8FAFF"/>
                </a:solidFill>
              </a:rPr>
              <a:t>What </a:t>
            </a:r>
            <a:r>
              <a:rPr lang="en-US" sz="1400" b="1" dirty="0" err="1">
                <a:solidFill>
                  <a:srgbClr val="F8FAFF"/>
                </a:solidFill>
              </a:rPr>
              <a:t>Orato</a:t>
            </a:r>
            <a:r>
              <a:rPr lang="en-US" sz="1400" b="1" dirty="0">
                <a:solidFill>
                  <a:srgbClr val="F8FAFF"/>
                </a:solidFill>
              </a:rPr>
              <a:t> changes</a:t>
            </a:r>
            <a:endParaRPr sz="1400" b="1" dirty="0">
              <a:solidFill>
                <a:srgbClr val="F8FA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FAD0BE-B55D-4626-9E6A-EAFE98BD909C}"/>
              </a:ext>
            </a:extLst>
          </p:cNvPr>
          <p:cNvSpPr>
            <a:spLocks noGrp="1"/>
          </p:cNvSpPr>
          <p:nvPr/>
        </p:nvSpPr>
        <p:spPr>
          <a:xfrm>
            <a:off x="4705350" y="3111246"/>
            <a:ext cx="27813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The system lets the user upload a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PDF, open it inside a focused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presentation view, and then drive the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session with natural phrases such as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next slide, go to page 5, highlight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this, or search the web.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8C181C-F7D2-4EE4-A05F-3672F4C93929}"/>
              </a:ext>
            </a:extLst>
          </p:cNvPr>
          <p:cNvSpPr>
            <a:spLocks noGrp="1"/>
          </p:cNvSpPr>
          <p:nvPr/>
        </p:nvSpPr>
        <p:spPr>
          <a:xfrm>
            <a:off x="8153400" y="2343150"/>
            <a:ext cx="3238500" cy="3105150"/>
          </a:xfrm>
          <a:prstGeom prst="roundRect">
            <a:avLst>
              <a:gd name="adj" fmla="val 2454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83F40-D5E1-45DA-BEE6-852B802D4E41}"/>
              </a:ext>
            </a:extLst>
          </p:cNvPr>
          <p:cNvSpPr>
            <a:spLocks noGrp="1"/>
          </p:cNvSpPr>
          <p:nvPr/>
        </p:nvSpPr>
        <p:spPr>
          <a:xfrm>
            <a:off x="8153400" y="2343150"/>
            <a:ext cx="76200" cy="31051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2AD415A-8821-49DF-BAEA-84775175CF1F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5AEED9C-AC31-4CB4-8144-869DC750353C}"/>
              </a:ext>
            </a:extLst>
          </p:cNvPr>
          <p:cNvSpPr>
            <a:spLocks noGrp="1"/>
          </p:cNvSpPr>
          <p:nvPr/>
        </p:nvSpPr>
        <p:spPr>
          <a:xfrm>
            <a:off x="8410575" y="2619375"/>
            <a:ext cx="1333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BBE91F5-8D3E-4019-B43F-1E764A345FBD}"/>
              </a:ext>
            </a:extLst>
          </p:cNvPr>
          <p:cNvSpPr>
            <a:spLocks noGrp="1"/>
          </p:cNvSpPr>
          <p:nvPr/>
        </p:nvSpPr>
        <p:spPr>
          <a:xfrm>
            <a:off x="8382000" y="2695575"/>
            <a:ext cx="1905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53BD524-6627-4C65-B54E-9BBA7A8BFFA1}"/>
              </a:ext>
            </a:extLst>
          </p:cNvPr>
          <p:cNvSpPr>
            <a:spLocks noGrp="1"/>
          </p:cNvSpPr>
          <p:nvPr/>
        </p:nvSpPr>
        <p:spPr>
          <a:xfrm>
            <a:off x="8429625" y="2771775"/>
            <a:ext cx="95250" cy="381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B9508C-1655-49EF-A06C-8F183C7D955C}"/>
              </a:ext>
            </a:extLst>
          </p:cNvPr>
          <p:cNvSpPr>
            <a:spLocks noGrp="1"/>
          </p:cNvSpPr>
          <p:nvPr/>
        </p:nvSpPr>
        <p:spPr>
          <a:xfrm>
            <a:off x="8763000" y="2589276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Who benefits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E0B6F7-7585-4988-A9D0-CE2B6BAE15D7}"/>
              </a:ext>
            </a:extLst>
          </p:cNvPr>
          <p:cNvSpPr>
            <a:spLocks noGrp="1"/>
          </p:cNvSpPr>
          <p:nvPr/>
        </p:nvSpPr>
        <p:spPr>
          <a:xfrm>
            <a:off x="8382000" y="3109913"/>
            <a:ext cx="27813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Teachers, student presenters, demo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teams, and workshop facilitators who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need hands-free control, clearer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pacing, and better audience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interaction during document-based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400" b="0" dirty="0">
                <a:solidFill>
                  <a:srgbClr val="D9E2F2"/>
                </a:solidFill>
              </a:rPr>
              <a:t>presentations.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68AA5F8-B2A9-4736-BC8F-3778117180F7}"/>
              </a:ext>
            </a:extLst>
          </p:cNvPr>
          <p:cNvSpPr>
            <a:spLocks noGrp="1"/>
          </p:cNvSpPr>
          <p:nvPr/>
        </p:nvSpPr>
        <p:spPr>
          <a:xfrm>
            <a:off x="800100" y="5829300"/>
            <a:ext cx="10096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A605A5-9CAD-425E-8A1B-98BF75BE0730}"/>
              </a:ext>
            </a:extLst>
          </p:cNvPr>
          <p:cNvSpPr>
            <a:spLocks noGrp="1"/>
          </p:cNvSpPr>
          <p:nvPr/>
        </p:nvSpPr>
        <p:spPr>
          <a:xfrm>
            <a:off x="895350" y="58864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Voice control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3A2BFBB-A92F-4BBD-82C1-07AC795CFFBE}"/>
              </a:ext>
            </a:extLst>
          </p:cNvPr>
          <p:cNvSpPr>
            <a:spLocks noGrp="1"/>
          </p:cNvSpPr>
          <p:nvPr/>
        </p:nvSpPr>
        <p:spPr>
          <a:xfrm>
            <a:off x="1924050" y="5829300"/>
            <a:ext cx="13525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C4BF50-606A-4354-A0CE-84A1CE001208}"/>
              </a:ext>
            </a:extLst>
          </p:cNvPr>
          <p:cNvSpPr>
            <a:spLocks noGrp="1"/>
          </p:cNvSpPr>
          <p:nvPr/>
        </p:nvSpPr>
        <p:spPr>
          <a:xfrm>
            <a:off x="2019300" y="5886450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Semantic highlight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876B8FD-6D9F-454B-8D67-2CC84E511F2C}"/>
              </a:ext>
            </a:extLst>
          </p:cNvPr>
          <p:cNvSpPr>
            <a:spLocks noGrp="1"/>
          </p:cNvSpPr>
          <p:nvPr/>
        </p:nvSpPr>
        <p:spPr>
          <a:xfrm>
            <a:off x="3390900" y="582930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1C5575-BBE3-4718-8D82-3794C497183F}"/>
              </a:ext>
            </a:extLst>
          </p:cNvPr>
          <p:cNvSpPr>
            <a:spLocks noGrp="1"/>
          </p:cNvSpPr>
          <p:nvPr/>
        </p:nvSpPr>
        <p:spPr>
          <a:xfrm>
            <a:off x="3486150" y="5886450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Live search mode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E72805D-8654-47B2-92DC-5F56D7B69CF7}"/>
              </a:ext>
            </a:extLst>
          </p:cNvPr>
          <p:cNvSpPr>
            <a:spLocks noGrp="1"/>
          </p:cNvSpPr>
          <p:nvPr/>
        </p:nvSpPr>
        <p:spPr>
          <a:xfrm>
            <a:off x="4762500" y="5829300"/>
            <a:ext cx="152400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34A5CD-AEF6-47F7-AF6C-7BACDE2757F4}"/>
              </a:ext>
            </a:extLst>
          </p:cNvPr>
          <p:cNvSpPr>
            <a:spLocks noGrp="1"/>
          </p:cNvSpPr>
          <p:nvPr/>
        </p:nvSpPr>
        <p:spPr>
          <a:xfrm>
            <a:off x="4857750" y="58864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Lecture summary export</a:t>
            </a:r>
          </a:p>
        </p:txBody>
      </p:sp>
    </p:spTree>
    <p:extLst>
      <p:ext uri="{BB962C8B-B14F-4D97-AF65-F5344CB8AC3E}">
        <p14:creationId xmlns:p14="http://schemas.microsoft.com/office/powerpoint/2010/main" val="182698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FD0FAAC-5A7D-437D-A0E7-3ADA189A8066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7D48B1-482F-439D-98E6-F60A8F8C37CC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617CB5-7247-422A-BA53-31DD5FDA8B3B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74549-F17B-4CBC-AD6E-BECFDEC73854}"/>
              </a:ext>
            </a:extLst>
          </p:cNvPr>
          <p:cNvSpPr>
            <a:spLocks noGrp="1"/>
          </p:cNvSpPr>
          <p:nvPr/>
        </p:nvSpPr>
        <p:spPr>
          <a:xfrm>
            <a:off x="609600" y="35052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FEE88-7E60-49C2-A99C-483B8F88993F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PRODUCT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E3B2F-220A-474A-8B66-A726558D1478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03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A9CE02-C98C-4747-9247-EE740F763CA3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201179-CCC8-4F4F-A3B2-09EDFE2B593F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>
                <a:solidFill>
                  <a:srgbClr val="F8FAFF"/>
                </a:solidFill>
              </a:rPr>
              <a:t>End-to-end user journey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B4C12-2AEF-402B-88ED-CA9E6631330B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 dirty="0">
                <a:solidFill>
                  <a:srgbClr val="94A3B8"/>
                </a:solidFill>
              </a:rPr>
              <a:t>The </a:t>
            </a:r>
            <a:r>
              <a:rPr lang="en-US" sz="1350" b="0" dirty="0">
                <a:solidFill>
                  <a:srgbClr val="94A3B8"/>
                </a:solidFill>
              </a:rPr>
              <a:t>product</a:t>
            </a:r>
            <a:r>
              <a:rPr sz="1350" b="0" dirty="0">
                <a:solidFill>
                  <a:srgbClr val="94A3B8"/>
                </a:solidFill>
              </a:rPr>
              <a:t> supports a complete flow from account creation to document ingestion to live AI-assisted presentation.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AEFE617-7741-45FC-8597-873E83DBDF88}"/>
              </a:ext>
            </a:extLst>
          </p:cNvPr>
          <p:cNvSpPr>
            <a:spLocks noGrp="1"/>
          </p:cNvSpPr>
          <p:nvPr/>
        </p:nvSpPr>
        <p:spPr>
          <a:xfrm>
            <a:off x="800100" y="2865120"/>
            <a:ext cx="2362200" cy="228600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619C9F-6A78-40A5-8DF0-82988DD842DE}"/>
              </a:ext>
            </a:extLst>
          </p:cNvPr>
          <p:cNvSpPr>
            <a:spLocks noGrp="1"/>
          </p:cNvSpPr>
          <p:nvPr/>
        </p:nvSpPr>
        <p:spPr>
          <a:xfrm>
            <a:off x="800100" y="2865120"/>
            <a:ext cx="2362200" cy="9525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BDC44B-FFF5-43B7-9196-3479A80F3367}"/>
              </a:ext>
            </a:extLst>
          </p:cNvPr>
          <p:cNvSpPr>
            <a:spLocks noGrp="1"/>
          </p:cNvSpPr>
          <p:nvPr/>
        </p:nvSpPr>
        <p:spPr>
          <a:xfrm>
            <a:off x="1009650" y="318897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F"/>
                </a:solidFill>
              </a:defRPr>
            </a:pPr>
            <a:r>
              <a:rPr sz="1650" b="1">
                <a:solidFill>
                  <a:srgbClr val="F8FAFF"/>
                </a:solidFill>
              </a:rPr>
              <a:t>1. Sign in and open the library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23EAA5-6077-48BF-9938-993FBB38BCFC}"/>
              </a:ext>
            </a:extLst>
          </p:cNvPr>
          <p:cNvSpPr>
            <a:spLocks noGrp="1"/>
          </p:cNvSpPr>
          <p:nvPr/>
        </p:nvSpPr>
        <p:spPr>
          <a:xfrm>
            <a:off x="1009650" y="3855720"/>
            <a:ext cx="19431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JWT-based auth and a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protected dashboard manage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who can upload, list, and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present documents.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A74D19-D5C6-4BA7-8EC8-2E452C2E9E5F}"/>
              </a:ext>
            </a:extLst>
          </p:cNvPr>
          <p:cNvSpPr>
            <a:spLocks noGrp="1"/>
          </p:cNvSpPr>
          <p:nvPr/>
        </p:nvSpPr>
        <p:spPr>
          <a:xfrm>
            <a:off x="3543300" y="2865120"/>
            <a:ext cx="2362200" cy="228600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DA0D13-D4B7-4D23-95A0-7BBCD93B91A6}"/>
              </a:ext>
            </a:extLst>
          </p:cNvPr>
          <p:cNvSpPr>
            <a:spLocks noGrp="1"/>
          </p:cNvSpPr>
          <p:nvPr/>
        </p:nvSpPr>
        <p:spPr>
          <a:xfrm>
            <a:off x="3543300" y="2865120"/>
            <a:ext cx="2362200" cy="952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A8BBB2-5DF6-418E-9A33-6D7E9C136BF9}"/>
              </a:ext>
            </a:extLst>
          </p:cNvPr>
          <p:cNvSpPr>
            <a:spLocks noGrp="1"/>
          </p:cNvSpPr>
          <p:nvPr/>
        </p:nvSpPr>
        <p:spPr>
          <a:xfrm>
            <a:off x="3752850" y="318897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F"/>
                </a:solidFill>
              </a:defRPr>
            </a:pPr>
            <a:r>
              <a:rPr sz="1650" b="1">
                <a:solidFill>
                  <a:srgbClr val="F8FAFF"/>
                </a:solidFill>
              </a:rPr>
              <a:t>2. Upload a PDF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001659-9652-4019-8956-EF584CF4E6AD}"/>
              </a:ext>
            </a:extLst>
          </p:cNvPr>
          <p:cNvSpPr>
            <a:spLocks noGrp="1"/>
          </p:cNvSpPr>
          <p:nvPr/>
        </p:nvSpPr>
        <p:spPr>
          <a:xfrm>
            <a:off x="3752850" y="3836670"/>
            <a:ext cx="19431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The file is stored under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uploads/, document metadata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is written to MongoDB, and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ingestion starts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immediately.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18D856-B2C3-4EFC-AA24-A371B3ABE5F8}"/>
              </a:ext>
            </a:extLst>
          </p:cNvPr>
          <p:cNvSpPr>
            <a:spLocks noGrp="1"/>
          </p:cNvSpPr>
          <p:nvPr/>
        </p:nvSpPr>
        <p:spPr>
          <a:xfrm>
            <a:off x="6286500" y="2865120"/>
            <a:ext cx="2362200" cy="228600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58AE4-E53B-429D-8DA1-F08D6433BDAE}"/>
              </a:ext>
            </a:extLst>
          </p:cNvPr>
          <p:cNvSpPr>
            <a:spLocks noGrp="1"/>
          </p:cNvSpPr>
          <p:nvPr/>
        </p:nvSpPr>
        <p:spPr>
          <a:xfrm>
            <a:off x="6286500" y="2865120"/>
            <a:ext cx="2362200" cy="952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8B3192-877E-4646-A08E-BE8B48D13102}"/>
              </a:ext>
            </a:extLst>
          </p:cNvPr>
          <p:cNvSpPr>
            <a:spLocks noGrp="1"/>
          </p:cNvSpPr>
          <p:nvPr/>
        </p:nvSpPr>
        <p:spPr>
          <a:xfrm>
            <a:off x="6496050" y="318897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F"/>
                </a:solidFill>
              </a:defRPr>
            </a:pPr>
            <a:r>
              <a:rPr sz="1650" b="1">
                <a:solidFill>
                  <a:srgbClr val="F8FAFF"/>
                </a:solidFill>
              </a:rPr>
              <a:t>3. Parse and index content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65A2F8-073A-4C08-89C6-FC5BEE6EC75B}"/>
              </a:ext>
            </a:extLst>
          </p:cNvPr>
          <p:cNvSpPr>
            <a:spLocks noGrp="1"/>
          </p:cNvSpPr>
          <p:nvPr/>
        </p:nvSpPr>
        <p:spPr>
          <a:xfrm>
            <a:off x="6496050" y="3855720"/>
            <a:ext cx="19431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Text blocks, tables, and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image context are extracted,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chunked, embedded, and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persisted in Chroma for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semantic retrieval.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FBAD33-3F49-468C-AB08-2BE3010F1AF3}"/>
              </a:ext>
            </a:extLst>
          </p:cNvPr>
          <p:cNvSpPr>
            <a:spLocks noGrp="1"/>
          </p:cNvSpPr>
          <p:nvPr/>
        </p:nvSpPr>
        <p:spPr>
          <a:xfrm>
            <a:off x="9029700" y="2865120"/>
            <a:ext cx="2362200" cy="2286000"/>
          </a:xfrm>
          <a:prstGeom prst="roundRect">
            <a:avLst>
              <a:gd name="adj" fmla="val 3333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02E736-BB8C-4634-98F2-CEFF29C9A337}"/>
              </a:ext>
            </a:extLst>
          </p:cNvPr>
          <p:cNvSpPr>
            <a:spLocks noGrp="1"/>
          </p:cNvSpPr>
          <p:nvPr/>
        </p:nvSpPr>
        <p:spPr>
          <a:xfrm>
            <a:off x="9029700" y="2865120"/>
            <a:ext cx="2362200" cy="95250"/>
          </a:xfrm>
          <a:prstGeom prst="rect">
            <a:avLst/>
          </a:prstGeom>
          <a:solidFill>
            <a:srgbClr val="FBBF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4FDDA8-4309-4565-9387-724A39BFB280}"/>
              </a:ext>
            </a:extLst>
          </p:cNvPr>
          <p:cNvSpPr>
            <a:spLocks noGrp="1"/>
          </p:cNvSpPr>
          <p:nvPr/>
        </p:nvSpPr>
        <p:spPr>
          <a:xfrm>
            <a:off x="9239250" y="318897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8FAFF"/>
                </a:solidFill>
              </a:defRPr>
            </a:pPr>
            <a:r>
              <a:rPr sz="1650" b="1">
                <a:solidFill>
                  <a:srgbClr val="F8FAFF"/>
                </a:solidFill>
              </a:rPr>
              <a:t>4. Present and enrich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CFB4C7-8AF0-4365-90D1-675A63217222}"/>
              </a:ext>
            </a:extLst>
          </p:cNvPr>
          <p:cNvSpPr>
            <a:spLocks noGrp="1"/>
          </p:cNvSpPr>
          <p:nvPr/>
        </p:nvSpPr>
        <p:spPr>
          <a:xfrm>
            <a:off x="9239250" y="3855720"/>
            <a:ext cx="19431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Inside the presentation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screen, voice actions drive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navigation, highlighting,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zoom, search mode, and</a:t>
            </a:r>
          </a:p>
          <a:p>
            <a:pPr algn="l">
              <a:defRPr sz="1125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lecture summary export.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E90DA93-D5DC-4B30-9804-00A0DA858E21}"/>
              </a:ext>
            </a:extLst>
          </p:cNvPr>
          <p:cNvSpPr>
            <a:spLocks noGrp="1"/>
          </p:cNvSpPr>
          <p:nvPr/>
        </p:nvSpPr>
        <p:spPr>
          <a:xfrm>
            <a:off x="3181350" y="388429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74B25128-1063-4C37-AEC8-7AE277CE4A6F}"/>
              </a:ext>
            </a:extLst>
          </p:cNvPr>
          <p:cNvSpPr>
            <a:spLocks noGrp="1"/>
          </p:cNvSpPr>
          <p:nvPr/>
        </p:nvSpPr>
        <p:spPr>
          <a:xfrm>
            <a:off x="5924550" y="388429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8B75FBA-1437-4ECE-927C-BB6313D11B74}"/>
              </a:ext>
            </a:extLst>
          </p:cNvPr>
          <p:cNvSpPr>
            <a:spLocks noGrp="1"/>
          </p:cNvSpPr>
          <p:nvPr/>
        </p:nvSpPr>
        <p:spPr>
          <a:xfrm>
            <a:off x="8667750" y="388429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427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E17CBD5-FC75-4B69-825E-CA7DD6DADF5B}"/>
              </a:ext>
            </a:extLst>
          </p:cNvPr>
          <p:cNvSpPr>
            <a:spLocks noGrp="1"/>
          </p:cNvSpPr>
          <p:nvPr/>
        </p:nvSpPr>
        <p:spPr>
          <a:xfrm>
            <a:off x="-1673352" y="-2300859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75331F-B84D-41AA-BAD9-EC8091A5D72E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D104C8-179F-484C-8A10-5C7A3401F7FC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09FB2-3C00-45EE-8203-B52892299D98}"/>
              </a:ext>
            </a:extLst>
          </p:cNvPr>
          <p:cNvSpPr>
            <a:spLocks noGrp="1"/>
          </p:cNvSpPr>
          <p:nvPr/>
        </p:nvSpPr>
        <p:spPr>
          <a:xfrm>
            <a:off x="438150" y="34290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466DF-8ED6-42F5-A193-3AFE8DF94822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026F08-7B16-4CB5-8000-17D1B102A468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04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F9C4C-EBDC-4B4F-8F93-4DEC8D9D8364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443500-92E9-48FA-AA0F-5F26ECD8C389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>
                <a:solidFill>
                  <a:srgbClr val="F8FAFF"/>
                </a:solidFill>
              </a:rPr>
              <a:t>System architecture across the 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8D4451-0163-4ABF-BC33-9EF7EFDE77EE}"/>
              </a:ext>
            </a:extLst>
          </p:cNvPr>
          <p:cNvSpPr>
            <a:spLocks noGrp="1"/>
          </p:cNvSpPr>
          <p:nvPr/>
        </p:nvSpPr>
        <p:spPr>
          <a:xfrm>
            <a:off x="800100" y="1747837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 dirty="0" err="1">
                <a:solidFill>
                  <a:srgbClr val="94A3B8"/>
                </a:solidFill>
              </a:rPr>
              <a:t>Orato</a:t>
            </a:r>
            <a:r>
              <a:rPr sz="1350" b="0" dirty="0">
                <a:solidFill>
                  <a:srgbClr val="94A3B8"/>
                </a:solidFill>
              </a:rPr>
              <a:t> is split into a React client, a </a:t>
            </a:r>
            <a:r>
              <a:rPr sz="1350" b="0" dirty="0" err="1">
                <a:solidFill>
                  <a:srgbClr val="94A3B8"/>
                </a:solidFill>
              </a:rPr>
              <a:t>FastAPI</a:t>
            </a:r>
            <a:r>
              <a:rPr sz="1350" b="0" dirty="0">
                <a:solidFill>
                  <a:srgbClr val="94A3B8"/>
                </a:solidFill>
              </a:rPr>
              <a:t> service layer, document intelligence services, and persistent storage.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3D4363-2799-4E61-8F2C-90B919B5B057}"/>
              </a:ext>
            </a:extLst>
          </p:cNvPr>
          <p:cNvSpPr>
            <a:spLocks noGrp="1"/>
          </p:cNvSpPr>
          <p:nvPr/>
        </p:nvSpPr>
        <p:spPr>
          <a:xfrm>
            <a:off x="895350" y="2599753"/>
            <a:ext cx="2362200" cy="3048000"/>
          </a:xfrm>
          <a:prstGeom prst="roundRect">
            <a:avLst>
              <a:gd name="adj" fmla="val 3226"/>
            </a:avLst>
          </a:prstGeom>
          <a:solidFill>
            <a:srgbClr val="181F33"/>
          </a:solidFill>
          <a:ln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B2522F-5823-47E6-821D-09FD3197536C}"/>
              </a:ext>
            </a:extLst>
          </p:cNvPr>
          <p:cNvSpPr>
            <a:spLocks noGrp="1"/>
          </p:cNvSpPr>
          <p:nvPr/>
        </p:nvSpPr>
        <p:spPr>
          <a:xfrm>
            <a:off x="3657600" y="2599753"/>
            <a:ext cx="2362200" cy="3048000"/>
          </a:xfrm>
          <a:prstGeom prst="roundRect">
            <a:avLst>
              <a:gd name="adj" fmla="val 3226"/>
            </a:avLst>
          </a:prstGeom>
          <a:solidFill>
            <a:srgbClr val="151C30"/>
          </a:solidFill>
          <a:ln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8297EA-174C-4AD3-A77F-9F8AB2988177}"/>
              </a:ext>
            </a:extLst>
          </p:cNvPr>
          <p:cNvSpPr>
            <a:spLocks noGrp="1"/>
          </p:cNvSpPr>
          <p:nvPr/>
        </p:nvSpPr>
        <p:spPr>
          <a:xfrm>
            <a:off x="6381750" y="2609278"/>
            <a:ext cx="2362200" cy="3048000"/>
          </a:xfrm>
          <a:prstGeom prst="roundRect">
            <a:avLst>
              <a:gd name="adj" fmla="val 3226"/>
            </a:avLst>
          </a:prstGeom>
          <a:solidFill>
            <a:srgbClr val="141A2B"/>
          </a:solidFill>
          <a:ln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6B2167-5929-46B0-90C5-442428708B31}"/>
              </a:ext>
            </a:extLst>
          </p:cNvPr>
          <p:cNvSpPr>
            <a:spLocks noGrp="1"/>
          </p:cNvSpPr>
          <p:nvPr/>
        </p:nvSpPr>
        <p:spPr>
          <a:xfrm>
            <a:off x="9144000" y="2599753"/>
            <a:ext cx="2133600" cy="3048000"/>
          </a:xfrm>
          <a:prstGeom prst="roundRect">
            <a:avLst>
              <a:gd name="adj" fmla="val 3571"/>
            </a:avLst>
          </a:prstGeom>
          <a:solidFill>
            <a:srgbClr val="121726"/>
          </a:solidFill>
          <a:ln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AAC2DC-C1F3-45AB-AD34-EB9DACC1A992}"/>
              </a:ext>
            </a:extLst>
          </p:cNvPr>
          <p:cNvSpPr>
            <a:spLocks noGrp="1"/>
          </p:cNvSpPr>
          <p:nvPr/>
        </p:nvSpPr>
        <p:spPr>
          <a:xfrm>
            <a:off x="1200150" y="2875978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Frontend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F42F43-DDBF-4522-818F-49E53CF1CE35}"/>
              </a:ext>
            </a:extLst>
          </p:cNvPr>
          <p:cNvSpPr>
            <a:spLocks noGrp="1"/>
          </p:cNvSpPr>
          <p:nvPr/>
        </p:nvSpPr>
        <p:spPr>
          <a:xfrm>
            <a:off x="1200150" y="3352228"/>
            <a:ext cx="1714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React + Vite + Tailwind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react-pdf + Zustand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Presentation UI + Search Mode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94661-5382-47DF-96CE-F06D53763931}"/>
              </a:ext>
            </a:extLst>
          </p:cNvPr>
          <p:cNvSpPr>
            <a:spLocks noGrp="1"/>
          </p:cNvSpPr>
          <p:nvPr/>
        </p:nvSpPr>
        <p:spPr>
          <a:xfrm>
            <a:off x="3943350" y="2875978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FastAPI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A71E6B-E44F-40F5-B5FE-BEC97549D470}"/>
              </a:ext>
            </a:extLst>
          </p:cNvPr>
          <p:cNvSpPr>
            <a:spLocks noGrp="1"/>
          </p:cNvSpPr>
          <p:nvPr/>
        </p:nvSpPr>
        <p:spPr>
          <a:xfrm>
            <a:off x="3943350" y="3352228"/>
            <a:ext cx="17526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REST routes for auth,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upload, document serving,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web search, and summary export</a:t>
            </a:r>
          </a:p>
          <a:p>
            <a:endParaRPr sz="1200" b="0">
              <a:solidFill>
                <a:srgbClr val="D9E2F2"/>
              </a:solidFill>
            </a:endParaRP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WebSocket endpoints for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state sync and audio streaming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4406F5-B988-40CE-9C72-743496B8258F}"/>
              </a:ext>
            </a:extLst>
          </p:cNvPr>
          <p:cNvSpPr>
            <a:spLocks noGrp="1"/>
          </p:cNvSpPr>
          <p:nvPr/>
        </p:nvSpPr>
        <p:spPr>
          <a:xfrm>
            <a:off x="6686550" y="2875978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AI / Retrieval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041D7E-A8FF-476D-9161-AAF1314466EB}"/>
              </a:ext>
            </a:extLst>
          </p:cNvPr>
          <p:cNvSpPr>
            <a:spLocks noGrp="1"/>
          </p:cNvSpPr>
          <p:nvPr/>
        </p:nvSpPr>
        <p:spPr>
          <a:xfrm>
            <a:off x="6686550" y="3352228"/>
            <a:ext cx="17526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PDF/PPT parsing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Chunking + embeddings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Regex + LLM reasoning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Semantic retrieval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Contextual web search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Lecture summarization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57BC58-9CED-4EEA-ABC7-DE61DCB0C9F2}"/>
              </a:ext>
            </a:extLst>
          </p:cNvPr>
          <p:cNvSpPr>
            <a:spLocks noGrp="1"/>
          </p:cNvSpPr>
          <p:nvPr/>
        </p:nvSpPr>
        <p:spPr>
          <a:xfrm>
            <a:off x="9429750" y="2875978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8FAFF"/>
                </a:solidFill>
              </a:defRPr>
            </a:pPr>
            <a:r>
              <a:rPr sz="1800" b="1">
                <a:solidFill>
                  <a:srgbClr val="F8FAFF"/>
                </a:solidFill>
              </a:rPr>
              <a:t>Storage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6DD204-4C29-470F-B6F8-0F18201AD4F9}"/>
              </a:ext>
            </a:extLst>
          </p:cNvPr>
          <p:cNvSpPr>
            <a:spLocks noGrp="1"/>
          </p:cNvSpPr>
          <p:nvPr/>
        </p:nvSpPr>
        <p:spPr>
          <a:xfrm>
            <a:off x="9429750" y="3352228"/>
            <a:ext cx="1428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MongoDB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users + documents</a:t>
            </a:r>
          </a:p>
          <a:p>
            <a:endParaRPr sz="1200" b="0">
              <a:solidFill>
                <a:srgbClr val="D9E2F2"/>
              </a:solidFill>
            </a:endParaRP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Chroma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vector indexes</a:t>
            </a:r>
          </a:p>
          <a:p>
            <a:endParaRPr sz="1200" b="0">
              <a:solidFill>
                <a:srgbClr val="D9E2F2"/>
              </a:solidFill>
            </a:endParaRP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uploads/</a:t>
            </a:r>
          </a:p>
          <a:p>
            <a:pPr algn="l">
              <a:defRPr sz="1200" b="0">
                <a:solidFill>
                  <a:srgbClr val="D9E2F2"/>
                </a:solidFill>
              </a:defRPr>
            </a:pPr>
            <a:r>
              <a:rPr sz="1200" b="0">
                <a:solidFill>
                  <a:srgbClr val="D9E2F2"/>
                </a:solidFill>
              </a:rPr>
              <a:t>secure file store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564206-0D0F-40E0-B474-B435F136EEAA}"/>
              </a:ext>
            </a:extLst>
          </p:cNvPr>
          <p:cNvSpPr>
            <a:spLocks noGrp="1"/>
          </p:cNvSpPr>
          <p:nvPr/>
        </p:nvSpPr>
        <p:spPr>
          <a:xfrm>
            <a:off x="3371850" y="4095178"/>
            <a:ext cx="24765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C0FF70D-4CF8-4562-B130-6EB13E4DDCC1}"/>
              </a:ext>
            </a:extLst>
          </p:cNvPr>
          <p:cNvSpPr>
            <a:spLocks noGrp="1"/>
          </p:cNvSpPr>
          <p:nvPr/>
        </p:nvSpPr>
        <p:spPr>
          <a:xfrm>
            <a:off x="6115050" y="4095178"/>
            <a:ext cx="24765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9D3A501-87DC-412F-ACCA-21E2904C58A8}"/>
              </a:ext>
            </a:extLst>
          </p:cNvPr>
          <p:cNvSpPr>
            <a:spLocks noGrp="1"/>
          </p:cNvSpPr>
          <p:nvPr/>
        </p:nvSpPr>
        <p:spPr>
          <a:xfrm>
            <a:off x="8858250" y="4095178"/>
            <a:ext cx="24765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3E52F8-9D4D-4729-95E0-6B66BE2BD261}"/>
              </a:ext>
            </a:extLst>
          </p:cNvPr>
          <p:cNvSpPr>
            <a:spLocks noGrp="1"/>
          </p:cNvSpPr>
          <p:nvPr/>
        </p:nvSpPr>
        <p:spPr>
          <a:xfrm>
            <a:off x="1200150" y="5200078"/>
            <a:ext cx="1066800" cy="247650"/>
          </a:xfrm>
          <a:prstGeom prst="roundRect">
            <a:avLst>
              <a:gd name="adj" fmla="val 30769"/>
            </a:avLst>
          </a:prstGeom>
          <a:solidFill>
            <a:srgbClr val="1B2740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F87042-A6D1-40C2-839E-1BD0D3950FCB}"/>
              </a:ext>
            </a:extLst>
          </p:cNvPr>
          <p:cNvSpPr>
            <a:spLocks noGrp="1"/>
          </p:cNvSpPr>
          <p:nvPr/>
        </p:nvSpPr>
        <p:spPr>
          <a:xfrm>
            <a:off x="1295400" y="5257228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/auth/upload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75ABD29-B7B1-415D-AB11-CFABBDCE8D9A}"/>
              </a:ext>
            </a:extLst>
          </p:cNvPr>
          <p:cNvSpPr>
            <a:spLocks noGrp="1"/>
          </p:cNvSpPr>
          <p:nvPr/>
        </p:nvSpPr>
        <p:spPr>
          <a:xfrm>
            <a:off x="3943350" y="5200078"/>
            <a:ext cx="1409700" cy="247650"/>
          </a:xfrm>
          <a:prstGeom prst="roundRect">
            <a:avLst>
              <a:gd name="adj" fmla="val 30769"/>
            </a:avLst>
          </a:prstGeom>
          <a:solidFill>
            <a:srgbClr val="1B2740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52E2B3-6A85-4189-AD84-37D0B3B7243C}"/>
              </a:ext>
            </a:extLst>
          </p:cNvPr>
          <p:cNvSpPr>
            <a:spLocks noGrp="1"/>
          </p:cNvSpPr>
          <p:nvPr/>
        </p:nvSpPr>
        <p:spPr>
          <a:xfrm>
            <a:off x="4038600" y="5257228"/>
            <a:ext cx="1219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/ws/stt/{client_id}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6165B37-081E-48D7-AC4C-56BC435EAA31}"/>
              </a:ext>
            </a:extLst>
          </p:cNvPr>
          <p:cNvSpPr>
            <a:spLocks noGrp="1"/>
          </p:cNvSpPr>
          <p:nvPr/>
        </p:nvSpPr>
        <p:spPr>
          <a:xfrm>
            <a:off x="6686550" y="5200078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B2740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412A33-1B36-4185-82F1-8AF59EA8C5AA}"/>
              </a:ext>
            </a:extLst>
          </p:cNvPr>
          <p:cNvSpPr>
            <a:spLocks noGrp="1"/>
          </p:cNvSpPr>
          <p:nvPr/>
        </p:nvSpPr>
        <p:spPr>
          <a:xfrm>
            <a:off x="6781800" y="5257228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analyze_query()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710CB35-E4C3-498E-87EA-869560E22972}"/>
              </a:ext>
            </a:extLst>
          </p:cNvPr>
          <p:cNvSpPr>
            <a:spLocks noGrp="1"/>
          </p:cNvSpPr>
          <p:nvPr/>
        </p:nvSpPr>
        <p:spPr>
          <a:xfrm>
            <a:off x="9429750" y="5200078"/>
            <a:ext cx="1238250" cy="247650"/>
          </a:xfrm>
          <a:prstGeom prst="roundRect">
            <a:avLst>
              <a:gd name="adj" fmla="val 30769"/>
            </a:avLst>
          </a:prstGeom>
          <a:solidFill>
            <a:srgbClr val="1B2740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D0ECF8-E709-40B6-90F5-AD1DC4DC20AF}"/>
              </a:ext>
            </a:extLst>
          </p:cNvPr>
          <p:cNvSpPr>
            <a:spLocks noGrp="1"/>
          </p:cNvSpPr>
          <p:nvPr/>
        </p:nvSpPr>
        <p:spPr>
          <a:xfrm>
            <a:off x="9525000" y="5257228"/>
            <a:ext cx="1047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db/chroma/&lt;doc&gt;</a:t>
            </a:r>
          </a:p>
        </p:txBody>
      </p:sp>
    </p:spTree>
    <p:extLst>
      <p:ext uri="{BB962C8B-B14F-4D97-AF65-F5344CB8AC3E}">
        <p14:creationId xmlns:p14="http://schemas.microsoft.com/office/powerpoint/2010/main" val="2285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C2DB894-9920-4CE5-BEED-19E7692B0477}"/>
              </a:ext>
            </a:extLst>
          </p:cNvPr>
          <p:cNvSpPr>
            <a:spLocks noGrp="1"/>
          </p:cNvSpPr>
          <p:nvPr/>
        </p:nvSpPr>
        <p:spPr>
          <a:xfrm>
            <a:off x="-1104900" y="-1400175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D7ED796-C7FB-467F-A77E-60926A72FDAE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44EAB7-184C-4F22-9B92-FD21B9BC3DCB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93650-64A3-4360-89D5-606D7880674F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BF2F9-50EA-4D44-BE3C-2DC4E1CA54B0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REALTIME CONTROL LOOP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B8083-1005-498A-852E-BD01AEDB2D53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05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1CEFB8-F44B-487B-A314-7CF5841B821A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FC024F-5435-460B-8697-D223D9EE50C0}"/>
              </a:ext>
            </a:extLst>
          </p:cNvPr>
          <p:cNvSpPr>
            <a:spLocks noGrp="1"/>
          </p:cNvSpPr>
          <p:nvPr/>
        </p:nvSpPr>
        <p:spPr>
          <a:xfrm>
            <a:off x="800100" y="1128713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 dirty="0">
                <a:solidFill>
                  <a:srgbClr val="F8FAFF"/>
                </a:solidFill>
              </a:rPr>
              <a:t>How live voice control works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287B4D-F8A2-4687-9F6A-59CC788F6B40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The presentation experience is driven by two WebSocket channels: one for control state and one for streaming microphone audio.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62C679-390D-43D1-A16D-B23154E341A5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10591800" cy="3162300"/>
          </a:xfrm>
          <a:prstGeom prst="roundRect">
            <a:avLst>
              <a:gd name="adj" fmla="val 2410"/>
            </a:avLst>
          </a:prstGeom>
          <a:solidFill>
            <a:srgbClr val="121A2B"/>
          </a:solidFill>
          <a:ln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7FC68F-0512-485E-B607-BE68F274D234}"/>
              </a:ext>
            </a:extLst>
          </p:cNvPr>
          <p:cNvSpPr>
            <a:spLocks noGrp="1"/>
          </p:cNvSpPr>
          <p:nvPr/>
        </p:nvSpPr>
        <p:spPr>
          <a:xfrm>
            <a:off x="1047750" y="27241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Interim preview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00DB19-9B21-41B2-9575-58EE8DA1D083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Final action path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65DCE0-6645-4447-99CD-000A78F09B9A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1562100" cy="704850"/>
          </a:xfrm>
          <a:prstGeom prst="roundRect">
            <a:avLst>
              <a:gd name="adj" fmla="val 10811"/>
            </a:avLst>
          </a:prstGeom>
          <a:solidFill>
            <a:srgbClr val="8B5CF6">
              <a:alpha val="13333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ED0BB-02A3-4A4F-B31E-BFDC53A6716A}"/>
              </a:ext>
            </a:extLst>
          </p:cNvPr>
          <p:cNvSpPr>
            <a:spLocks noGrp="1"/>
          </p:cNvSpPr>
          <p:nvPr/>
        </p:nvSpPr>
        <p:spPr>
          <a:xfrm>
            <a:off x="1257300" y="3314700"/>
            <a:ext cx="1257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Mic audio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from browser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16A807-00B0-4178-90B8-CA2A8069E094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562100" cy="704850"/>
          </a:xfrm>
          <a:prstGeom prst="roundRect">
            <a:avLst>
              <a:gd name="adj" fmla="val 10811"/>
            </a:avLst>
          </a:prstGeom>
          <a:solidFill>
            <a:srgbClr val="06B6D4">
              <a:alpha val="13333"/>
            </a:srgbClr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1289DC-7D27-4617-AC6C-D69D0D0E6741}"/>
              </a:ext>
            </a:extLst>
          </p:cNvPr>
          <p:cNvSpPr>
            <a:spLocks noGrp="1"/>
          </p:cNvSpPr>
          <p:nvPr/>
        </p:nvSpPr>
        <p:spPr>
          <a:xfrm>
            <a:off x="3257550" y="3314700"/>
            <a:ext cx="1257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Google STT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streaming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3DACA6-ED5B-462E-B7D8-E6E4914E55A7}"/>
              </a:ext>
            </a:extLst>
          </p:cNvPr>
          <p:cNvSpPr>
            <a:spLocks noGrp="1"/>
          </p:cNvSpPr>
          <p:nvPr/>
        </p:nvSpPr>
        <p:spPr>
          <a:xfrm>
            <a:off x="5105400" y="31432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13233B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E9F5CD-25EB-4D81-9FD6-99ABA9CB4F4C}"/>
              </a:ext>
            </a:extLst>
          </p:cNvPr>
          <p:cNvSpPr>
            <a:spLocks noGrp="1"/>
          </p:cNvSpPr>
          <p:nvPr/>
        </p:nvSpPr>
        <p:spPr>
          <a:xfrm>
            <a:off x="5257800" y="3314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preview_highlight()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checks likely target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E967AED-9303-4ABF-9C05-99D184A0BF41}"/>
              </a:ext>
            </a:extLst>
          </p:cNvPr>
          <p:cNvSpPr>
            <a:spLocks noGrp="1"/>
          </p:cNvSpPr>
          <p:nvPr/>
        </p:nvSpPr>
        <p:spPr>
          <a:xfrm>
            <a:off x="7353300" y="3143250"/>
            <a:ext cx="1619250" cy="704850"/>
          </a:xfrm>
          <a:prstGeom prst="roundRect">
            <a:avLst>
              <a:gd name="adj" fmla="val 10811"/>
            </a:avLst>
          </a:prstGeom>
          <a:solidFill>
            <a:srgbClr val="102739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1AC9BF-02C0-48E0-9BDB-24A8AEA8184A}"/>
              </a:ext>
            </a:extLst>
          </p:cNvPr>
          <p:cNvSpPr>
            <a:spLocks noGrp="1"/>
          </p:cNvSpPr>
          <p:nvPr/>
        </p:nvSpPr>
        <p:spPr>
          <a:xfrm>
            <a:off x="7505700" y="3314700"/>
            <a:ext cx="1314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Action payload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queued and sent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56EB5D-FD8D-4CFB-B8EC-D655EF6C4175}"/>
              </a:ext>
            </a:extLst>
          </p:cNvPr>
          <p:cNvSpPr>
            <a:spLocks noGrp="1"/>
          </p:cNvSpPr>
          <p:nvPr/>
        </p:nvSpPr>
        <p:spPr>
          <a:xfrm>
            <a:off x="9410700" y="3143250"/>
            <a:ext cx="1581150" cy="704850"/>
          </a:xfrm>
          <a:prstGeom prst="roundRect">
            <a:avLst>
              <a:gd name="adj" fmla="val 10811"/>
            </a:avLst>
          </a:prstGeom>
          <a:solidFill>
            <a:srgbClr val="113122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BA714-7665-4048-A0BC-00E0D0A590DE}"/>
              </a:ext>
            </a:extLst>
          </p:cNvPr>
          <p:cNvSpPr>
            <a:spLocks noGrp="1"/>
          </p:cNvSpPr>
          <p:nvPr/>
        </p:nvSpPr>
        <p:spPr>
          <a:xfrm>
            <a:off x="9563100" y="3314700"/>
            <a:ext cx="1276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UI preview overlay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before final command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355AD49-02F6-44B2-8DF7-57987214AE7C}"/>
              </a:ext>
            </a:extLst>
          </p:cNvPr>
          <p:cNvSpPr>
            <a:spLocks noGrp="1"/>
          </p:cNvSpPr>
          <p:nvPr/>
        </p:nvSpPr>
        <p:spPr>
          <a:xfrm>
            <a:off x="2724150" y="340042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23C2F4B-81E3-45F4-90A2-4C335E778B3B}"/>
              </a:ext>
            </a:extLst>
          </p:cNvPr>
          <p:cNvSpPr>
            <a:spLocks noGrp="1"/>
          </p:cNvSpPr>
          <p:nvPr/>
        </p:nvSpPr>
        <p:spPr>
          <a:xfrm>
            <a:off x="4743450" y="340042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C4B1624-9285-4DA2-87D6-59307F986DD9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6930071-6341-4482-805C-9F38CDADE003}"/>
              </a:ext>
            </a:extLst>
          </p:cNvPr>
          <p:cNvSpPr>
            <a:spLocks noGrp="1"/>
          </p:cNvSpPr>
          <p:nvPr/>
        </p:nvSpPr>
        <p:spPr>
          <a:xfrm>
            <a:off x="9048750" y="3400425"/>
            <a:ext cx="266700" cy="171450"/>
          </a:xfrm>
          <a:prstGeom prst="rightArrow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195AC9A-2D97-4171-8CAE-02C2271F4D98}"/>
              </a:ext>
            </a:extLst>
          </p:cNvPr>
          <p:cNvSpPr>
            <a:spLocks noGrp="1"/>
          </p:cNvSpPr>
          <p:nvPr/>
        </p:nvSpPr>
        <p:spPr>
          <a:xfrm>
            <a:off x="1104900" y="4514850"/>
            <a:ext cx="1562100" cy="704850"/>
          </a:xfrm>
          <a:prstGeom prst="roundRect">
            <a:avLst>
              <a:gd name="adj" fmla="val 10811"/>
            </a:avLst>
          </a:prstGeom>
          <a:solidFill>
            <a:srgbClr val="3B1F6A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9C17E0-08D9-4121-8AAE-F9DB91D0EC7D}"/>
              </a:ext>
            </a:extLst>
          </p:cNvPr>
          <p:cNvSpPr>
            <a:spLocks noGrp="1"/>
          </p:cNvSpPr>
          <p:nvPr/>
        </p:nvSpPr>
        <p:spPr>
          <a:xfrm>
            <a:off x="1257300" y="4686300"/>
            <a:ext cx="1257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Final transcript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B34F8E-EB37-4B39-B1F4-49C9598FF347}"/>
              </a:ext>
            </a:extLst>
          </p:cNvPr>
          <p:cNvSpPr>
            <a:spLocks noGrp="1"/>
          </p:cNvSpPr>
          <p:nvPr/>
        </p:nvSpPr>
        <p:spPr>
          <a:xfrm>
            <a:off x="3105150" y="451485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14304A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0149CB-1523-44C4-B0EE-BAC823C895CE}"/>
              </a:ext>
            </a:extLst>
          </p:cNvPr>
          <p:cNvSpPr>
            <a:spLocks noGrp="1"/>
          </p:cNvSpPr>
          <p:nvPr/>
        </p:nvSpPr>
        <p:spPr>
          <a:xfrm>
            <a:off x="3257550" y="46863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analyze_query()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regex + LLM reasoning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5FC21C6-6664-470D-9879-B94588A7FEE2}"/>
              </a:ext>
            </a:extLst>
          </p:cNvPr>
          <p:cNvSpPr>
            <a:spLocks noGrp="1"/>
          </p:cNvSpPr>
          <p:nvPr/>
        </p:nvSpPr>
        <p:spPr>
          <a:xfrm>
            <a:off x="5353050" y="45148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12333A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640795-F7BE-413E-9732-15C198CA3334}"/>
              </a:ext>
            </a:extLst>
          </p:cNvPr>
          <p:cNvSpPr>
            <a:spLocks noGrp="1"/>
          </p:cNvSpPr>
          <p:nvPr/>
        </p:nvSpPr>
        <p:spPr>
          <a:xfrm>
            <a:off x="5505450" y="46863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retrieve()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semantic match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72B14DD-D485-47F3-82EC-B359523A1E5E}"/>
              </a:ext>
            </a:extLst>
          </p:cNvPr>
          <p:cNvSpPr>
            <a:spLocks noGrp="1"/>
          </p:cNvSpPr>
          <p:nvPr/>
        </p:nvSpPr>
        <p:spPr>
          <a:xfrm>
            <a:off x="7505700" y="4514850"/>
            <a:ext cx="1733550" cy="704850"/>
          </a:xfrm>
          <a:prstGeom prst="roundRect">
            <a:avLst>
              <a:gd name="adj" fmla="val 10811"/>
            </a:avLst>
          </a:prstGeom>
          <a:solidFill>
            <a:srgbClr val="17321D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5A2C79-79B7-4042-BCB4-F50DCB35CDBF}"/>
              </a:ext>
            </a:extLst>
          </p:cNvPr>
          <p:cNvSpPr>
            <a:spLocks noGrp="1"/>
          </p:cNvSpPr>
          <p:nvPr/>
        </p:nvSpPr>
        <p:spPr>
          <a:xfrm>
            <a:off x="7658100" y="46863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navigate / highlight /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zoom / inspect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FD088E9-906E-4784-9AE8-E099D9EA9D5F}"/>
              </a:ext>
            </a:extLst>
          </p:cNvPr>
          <p:cNvSpPr>
            <a:spLocks noGrp="1"/>
          </p:cNvSpPr>
          <p:nvPr/>
        </p:nvSpPr>
        <p:spPr>
          <a:xfrm>
            <a:off x="9677400" y="4514850"/>
            <a:ext cx="1314450" cy="704850"/>
          </a:xfrm>
          <a:prstGeom prst="roundRect">
            <a:avLst>
              <a:gd name="adj" fmla="val 10811"/>
            </a:avLst>
          </a:prstGeom>
          <a:solidFill>
            <a:srgbClr val="312315"/>
          </a:solidFill>
          <a:ln w="9525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BFF481-7B4B-4F46-96EE-257A0A1378B0}"/>
              </a:ext>
            </a:extLst>
          </p:cNvPr>
          <p:cNvSpPr>
            <a:spLocks noGrp="1"/>
          </p:cNvSpPr>
          <p:nvPr/>
        </p:nvSpPr>
        <p:spPr>
          <a:xfrm>
            <a:off x="9829800" y="4686300"/>
            <a:ext cx="1009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Transcript</a:t>
            </a:r>
          </a:p>
          <a:p>
            <a:pPr algn="l">
              <a:defRPr sz="1125" b="1">
                <a:solidFill>
                  <a:srgbClr val="F8FAFF"/>
                </a:solidFill>
              </a:defRPr>
            </a:pPr>
            <a:r>
              <a:rPr sz="1125" b="1">
                <a:solidFill>
                  <a:srgbClr val="F8FAFF"/>
                </a:solidFill>
              </a:rPr>
              <a:t>feedback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EA4B585-048A-4FFC-B2B0-9791E794DEB3}"/>
              </a:ext>
            </a:extLst>
          </p:cNvPr>
          <p:cNvSpPr>
            <a:spLocks noGrp="1"/>
          </p:cNvSpPr>
          <p:nvPr/>
        </p:nvSpPr>
        <p:spPr>
          <a:xfrm>
            <a:off x="2724150" y="4772025"/>
            <a:ext cx="266700" cy="171450"/>
          </a:xfrm>
          <a:prstGeom prst="rightArrow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DF4374D2-B2AC-4B96-A94C-8113A0109305}"/>
              </a:ext>
            </a:extLst>
          </p:cNvPr>
          <p:cNvSpPr>
            <a:spLocks noGrp="1"/>
          </p:cNvSpPr>
          <p:nvPr/>
        </p:nvSpPr>
        <p:spPr>
          <a:xfrm>
            <a:off x="4991100" y="4772025"/>
            <a:ext cx="266700" cy="171450"/>
          </a:xfrm>
          <a:prstGeom prst="rightArrow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D804638-EB6C-47C0-A77D-2134D62B2765}"/>
              </a:ext>
            </a:extLst>
          </p:cNvPr>
          <p:cNvSpPr>
            <a:spLocks noGrp="1"/>
          </p:cNvSpPr>
          <p:nvPr/>
        </p:nvSpPr>
        <p:spPr>
          <a:xfrm>
            <a:off x="7143750" y="4772025"/>
            <a:ext cx="266700" cy="171450"/>
          </a:xfrm>
          <a:prstGeom prst="rightArrow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C26B093C-A894-4F5D-9674-A0E0F617DE4A}"/>
              </a:ext>
            </a:extLst>
          </p:cNvPr>
          <p:cNvSpPr>
            <a:spLocks noGrp="1"/>
          </p:cNvSpPr>
          <p:nvPr/>
        </p:nvSpPr>
        <p:spPr>
          <a:xfrm>
            <a:off x="9315450" y="4772025"/>
            <a:ext cx="266700" cy="171450"/>
          </a:xfrm>
          <a:prstGeom prst="rightArrow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2FCE88-39AF-4509-87E4-A8560E775F33}"/>
              </a:ext>
            </a:extLst>
          </p:cNvPr>
          <p:cNvSpPr>
            <a:spLocks noGrp="1"/>
          </p:cNvSpPr>
          <p:nvPr/>
        </p:nvSpPr>
        <p:spPr>
          <a:xfrm>
            <a:off x="1047750" y="5886450"/>
            <a:ext cx="952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Why this matters: previews make the interface feel responsive before a sentence is even finished, while the final path uses more deliberate reasoning and retrieval before changing the document.</a:t>
            </a:r>
          </a:p>
        </p:txBody>
      </p:sp>
    </p:spTree>
    <p:extLst>
      <p:ext uri="{BB962C8B-B14F-4D97-AF65-F5344CB8AC3E}">
        <p14:creationId xmlns:p14="http://schemas.microsoft.com/office/powerpoint/2010/main" val="123038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F4A4E04-FDC1-495E-95E9-ADEE98BDD776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F6F4801-F335-4585-8897-8ADFA8E5FE81}"/>
              </a:ext>
            </a:extLst>
          </p:cNvPr>
          <p:cNvSpPr>
            <a:spLocks noGrp="1"/>
          </p:cNvSpPr>
          <p:nvPr/>
        </p:nvSpPr>
        <p:spPr>
          <a:xfrm>
            <a:off x="9525000" y="-68580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82A40E-01F9-4380-BB23-28A53C427E9D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6151B4-E7FD-401C-905C-D1924F8095F0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DEF729-A95E-4CA8-AF2A-2B970425B252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DOCUMENT INTELLIGENCE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8DAB24-482B-4DC9-881C-B604E4541AD1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06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3E04EA-F737-4D9B-A101-581E2FAD6C22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3F48AF-0D3E-4B61-8EFB-7846A021DE2A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 dirty="0">
                <a:solidFill>
                  <a:srgbClr val="F8FAFF"/>
                </a:solidFill>
              </a:rPr>
              <a:t>What makes the document 'understandable' to the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B985D3-3575-400A-9081-594DDBEF85EB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Orato does more than speech-to-text. It builds structured context around the file and the current session.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74AA66-A442-45F0-A6B0-5C4CCC3620E0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0" cy="1790700"/>
          </a:xfrm>
          <a:prstGeom prst="roundRect">
            <a:avLst>
              <a:gd name="adj" fmla="val 4255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FFA7CE-C29B-4BAF-8A5A-3A7947DC792C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76200" cy="179070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159371-C460-4E7C-AAED-CFCD5D534C71}"/>
              </a:ext>
            </a:extLst>
          </p:cNvPr>
          <p:cNvSpPr>
            <a:spLocks noGrp="1"/>
          </p:cNvSpPr>
          <p:nvPr/>
        </p:nvSpPr>
        <p:spPr>
          <a:xfrm>
            <a:off x="1009650" y="26479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847CCF-874A-4AA1-8412-74B057C9BDE4}"/>
              </a:ext>
            </a:extLst>
          </p:cNvPr>
          <p:cNvSpPr>
            <a:spLocks noGrp="1"/>
          </p:cNvSpPr>
          <p:nvPr/>
        </p:nvSpPr>
        <p:spPr>
          <a:xfrm>
            <a:off x="1057275" y="2695575"/>
            <a:ext cx="1333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04974D-6A2A-4D65-B883-A54E04AC3BDB}"/>
              </a:ext>
            </a:extLst>
          </p:cNvPr>
          <p:cNvSpPr>
            <a:spLocks noGrp="1"/>
          </p:cNvSpPr>
          <p:nvPr/>
        </p:nvSpPr>
        <p:spPr>
          <a:xfrm>
            <a:off x="1028700" y="2771775"/>
            <a:ext cx="1905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8C3977-906B-427A-A349-54A11C313EC4}"/>
              </a:ext>
            </a:extLst>
          </p:cNvPr>
          <p:cNvSpPr>
            <a:spLocks noGrp="1"/>
          </p:cNvSpPr>
          <p:nvPr/>
        </p:nvSpPr>
        <p:spPr>
          <a:xfrm>
            <a:off x="1076325" y="2847975"/>
            <a:ext cx="95250" cy="381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66CB2-23FF-44AE-B3A6-61C2C1CF0041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>
                <a:solidFill>
                  <a:srgbClr val="F8FAFF"/>
                </a:solidFill>
              </a:rPr>
              <a:t>Parsing and chunking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2DE896-668F-4EEA-BAFB-EBE19D2CFDCD}"/>
              </a:ext>
            </a:extLst>
          </p:cNvPr>
          <p:cNvSpPr>
            <a:spLocks noGrp="1"/>
          </p:cNvSpPr>
          <p:nvPr/>
        </p:nvSpPr>
        <p:spPr>
          <a:xfrm>
            <a:off x="1028700" y="2990850"/>
            <a:ext cx="27813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parsing.py extracts text, tables, and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image context. ingestion_pipeline.py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converts that into searchable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documents with slide, section, and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bounding-box metadata.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DD5375-77F9-40E4-B1C3-F0FD164A607F}"/>
              </a:ext>
            </a:extLst>
          </p:cNvPr>
          <p:cNvSpPr>
            <a:spLocks noGrp="1"/>
          </p:cNvSpPr>
          <p:nvPr/>
        </p:nvSpPr>
        <p:spPr>
          <a:xfrm>
            <a:off x="4476750" y="2419350"/>
            <a:ext cx="3238500" cy="1790700"/>
          </a:xfrm>
          <a:prstGeom prst="roundRect">
            <a:avLst>
              <a:gd name="adj" fmla="val 4255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F03D36-A07E-41CC-8D4B-42644C164F39}"/>
              </a:ext>
            </a:extLst>
          </p:cNvPr>
          <p:cNvSpPr>
            <a:spLocks noGrp="1"/>
          </p:cNvSpPr>
          <p:nvPr/>
        </p:nvSpPr>
        <p:spPr>
          <a:xfrm>
            <a:off x="4476750" y="2419350"/>
            <a:ext cx="76200" cy="179070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C8E31B-5011-41BE-9B9A-01636A1298AD}"/>
              </a:ext>
            </a:extLst>
          </p:cNvPr>
          <p:cNvSpPr>
            <a:spLocks noGrp="1"/>
          </p:cNvSpPr>
          <p:nvPr/>
        </p:nvSpPr>
        <p:spPr>
          <a:xfrm>
            <a:off x="4686300" y="26479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5753F0E-81C0-4D66-8328-6368BB71EA42}"/>
              </a:ext>
            </a:extLst>
          </p:cNvPr>
          <p:cNvSpPr>
            <a:spLocks noGrp="1"/>
          </p:cNvSpPr>
          <p:nvPr/>
        </p:nvSpPr>
        <p:spPr>
          <a:xfrm>
            <a:off x="4743450" y="270510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A3A0661-0F31-4A1E-8DEB-6AA3B0070B65}"/>
              </a:ext>
            </a:extLst>
          </p:cNvPr>
          <p:cNvSpPr>
            <a:spLocks noGrp="1"/>
          </p:cNvSpPr>
          <p:nvPr/>
        </p:nvSpPr>
        <p:spPr>
          <a:xfrm>
            <a:off x="4838700" y="278130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0F4482-6FF5-4DF0-9CEC-F71B4E15C76A}"/>
              </a:ext>
            </a:extLst>
          </p:cNvPr>
          <p:cNvSpPr>
            <a:spLocks noGrp="1"/>
          </p:cNvSpPr>
          <p:nvPr/>
        </p:nvSpPr>
        <p:spPr>
          <a:xfrm>
            <a:off x="4791075" y="2743200"/>
            <a:ext cx="85725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4992BD-0AA0-45EF-A7C4-B07462EB2DFC}"/>
              </a:ext>
            </a:extLst>
          </p:cNvPr>
          <p:cNvSpPr>
            <a:spLocks noGrp="1"/>
          </p:cNvSpPr>
          <p:nvPr/>
        </p:nvSpPr>
        <p:spPr>
          <a:xfrm>
            <a:off x="5105400" y="260985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>
                <a:solidFill>
                  <a:srgbClr val="F8FAFF"/>
                </a:solidFill>
              </a:rPr>
              <a:t>Retrieval and reasoning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17A290-E68E-4A8D-89DB-D33AF7229B00}"/>
              </a:ext>
            </a:extLst>
          </p:cNvPr>
          <p:cNvSpPr>
            <a:spLocks noGrp="1"/>
          </p:cNvSpPr>
          <p:nvPr/>
        </p:nvSpPr>
        <p:spPr>
          <a:xfrm>
            <a:off x="4705350" y="2990850"/>
            <a:ext cx="27813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retreival_pipeline.py combines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rule-based parsing with optional LLM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reasoning so the system can decide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whether to navigate, search, zoom,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inspect, or ignore non-document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chatter.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FEDEF3-5DA9-4345-8CA8-614097C15CAB}"/>
              </a:ext>
            </a:extLst>
          </p:cNvPr>
          <p:cNvSpPr>
            <a:spLocks noGrp="1"/>
          </p:cNvSpPr>
          <p:nvPr/>
        </p:nvSpPr>
        <p:spPr>
          <a:xfrm>
            <a:off x="8153400" y="2419350"/>
            <a:ext cx="3238500" cy="1790700"/>
          </a:xfrm>
          <a:prstGeom prst="roundRect">
            <a:avLst>
              <a:gd name="adj" fmla="val 4255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F0F126-A245-43A5-B40A-23B52B8EECFC}"/>
              </a:ext>
            </a:extLst>
          </p:cNvPr>
          <p:cNvSpPr>
            <a:spLocks noGrp="1"/>
          </p:cNvSpPr>
          <p:nvPr/>
        </p:nvSpPr>
        <p:spPr>
          <a:xfrm>
            <a:off x="8153400" y="2419350"/>
            <a:ext cx="76200" cy="179070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718DA7-2EB9-482A-AF13-B4BB35838182}"/>
              </a:ext>
            </a:extLst>
          </p:cNvPr>
          <p:cNvSpPr>
            <a:spLocks noGrp="1"/>
          </p:cNvSpPr>
          <p:nvPr/>
        </p:nvSpPr>
        <p:spPr>
          <a:xfrm>
            <a:off x="8362950" y="26479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A9750D8-96A7-4531-BFE0-AB0F0D707EA9}"/>
              </a:ext>
            </a:extLst>
          </p:cNvPr>
          <p:cNvSpPr>
            <a:spLocks noGrp="1"/>
          </p:cNvSpPr>
          <p:nvPr/>
        </p:nvSpPr>
        <p:spPr>
          <a:xfrm>
            <a:off x="8448675" y="2733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84C0C-BA30-44C5-882F-6E1E6C83BCEF}"/>
              </a:ext>
            </a:extLst>
          </p:cNvPr>
          <p:cNvSpPr>
            <a:spLocks noGrp="1"/>
          </p:cNvSpPr>
          <p:nvPr/>
        </p:nvSpPr>
        <p:spPr>
          <a:xfrm>
            <a:off x="8782050" y="260985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>
                <a:solidFill>
                  <a:srgbClr val="F8FAFF"/>
                </a:solidFill>
              </a:rPr>
              <a:t>Session-aware enrichment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01BDBE-2CBE-4609-AD5A-383AC9BC0613}"/>
              </a:ext>
            </a:extLst>
          </p:cNvPr>
          <p:cNvSpPr>
            <a:spLocks noGrp="1"/>
          </p:cNvSpPr>
          <p:nvPr/>
        </p:nvSpPr>
        <p:spPr>
          <a:xfrm>
            <a:off x="8382000" y="2990850"/>
            <a:ext cx="27813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http_routes.py resolves contextual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web queries from focus text and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transcript history, then reuses the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same session context to build lecture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050" b="0">
                <a:solidFill>
                  <a:srgbClr val="D9E2F2"/>
                </a:solidFill>
              </a:rPr>
              <a:t>summaries.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6A3E348-9C88-4A90-9118-CD454F50E92B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10591800" cy="1123950"/>
          </a:xfrm>
          <a:prstGeom prst="roundRect">
            <a:avLst>
              <a:gd name="adj" fmla="val 6780"/>
            </a:avLst>
          </a:prstGeom>
          <a:solidFill>
            <a:srgbClr val="151F33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74333C8-FADB-4E3E-A726-82003A580B64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733550" cy="247650"/>
          </a:xfrm>
          <a:prstGeom prst="roundRect">
            <a:avLst>
              <a:gd name="adj" fmla="val 30769"/>
            </a:avLst>
          </a:prstGeom>
          <a:solidFill>
            <a:srgbClr val="13233B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89E038-8880-4E45-B64C-CD5829906419}"/>
              </a:ext>
            </a:extLst>
          </p:cNvPr>
          <p:cNvSpPr>
            <a:spLocks noGrp="1"/>
          </p:cNvSpPr>
          <p:nvPr/>
        </p:nvSpPr>
        <p:spPr>
          <a:xfrm>
            <a:off x="1143000" y="4914900"/>
            <a:ext cx="1543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Image captions for diagrams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6EAF072-4130-4B95-B750-1A18F545C375}"/>
              </a:ext>
            </a:extLst>
          </p:cNvPr>
          <p:cNvSpPr>
            <a:spLocks noGrp="1"/>
          </p:cNvSpPr>
          <p:nvPr/>
        </p:nvSpPr>
        <p:spPr>
          <a:xfrm>
            <a:off x="2895600" y="4857750"/>
            <a:ext cx="2209800" cy="247650"/>
          </a:xfrm>
          <a:prstGeom prst="roundRect">
            <a:avLst>
              <a:gd name="adj" fmla="val 30769"/>
            </a:avLst>
          </a:prstGeom>
          <a:solidFill>
            <a:srgbClr val="13233B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E01E47-AB8C-4740-B80F-8BA6AE9851B4}"/>
              </a:ext>
            </a:extLst>
          </p:cNvPr>
          <p:cNvSpPr>
            <a:spLocks noGrp="1"/>
          </p:cNvSpPr>
          <p:nvPr/>
        </p:nvSpPr>
        <p:spPr>
          <a:xfrm>
            <a:off x="2990850" y="4914900"/>
            <a:ext cx="2019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Bounding boxes for highlight overlays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BFA9382-9B86-42A5-BE49-3D6D7253A51C}"/>
              </a:ext>
            </a:extLst>
          </p:cNvPr>
          <p:cNvSpPr>
            <a:spLocks noGrp="1"/>
          </p:cNvSpPr>
          <p:nvPr/>
        </p:nvSpPr>
        <p:spPr>
          <a:xfrm>
            <a:off x="5219700" y="4857750"/>
            <a:ext cx="1962150" cy="247650"/>
          </a:xfrm>
          <a:prstGeom prst="roundRect">
            <a:avLst>
              <a:gd name="adj" fmla="val 30769"/>
            </a:avLst>
          </a:prstGeom>
          <a:solidFill>
            <a:srgbClr val="13233B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8468D1-8B2C-4CC9-9477-2B09F0CEA80B}"/>
              </a:ext>
            </a:extLst>
          </p:cNvPr>
          <p:cNvSpPr>
            <a:spLocks noGrp="1"/>
          </p:cNvSpPr>
          <p:nvPr/>
        </p:nvSpPr>
        <p:spPr>
          <a:xfrm>
            <a:off x="5314950" y="4914900"/>
            <a:ext cx="1771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Chroma vector index per document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485EE5E-08BB-4940-B904-A45B847334B8}"/>
              </a:ext>
            </a:extLst>
          </p:cNvPr>
          <p:cNvSpPr>
            <a:spLocks noGrp="1"/>
          </p:cNvSpPr>
          <p:nvPr/>
        </p:nvSpPr>
        <p:spPr>
          <a:xfrm>
            <a:off x="7296150" y="4857750"/>
            <a:ext cx="2247900" cy="247650"/>
          </a:xfrm>
          <a:prstGeom prst="roundRect">
            <a:avLst>
              <a:gd name="adj" fmla="val 30769"/>
            </a:avLst>
          </a:prstGeom>
          <a:solidFill>
            <a:srgbClr val="13233B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448381-505E-45F1-808E-F161A5C4E573}"/>
              </a:ext>
            </a:extLst>
          </p:cNvPr>
          <p:cNvSpPr>
            <a:spLocks noGrp="1"/>
          </p:cNvSpPr>
          <p:nvPr/>
        </p:nvSpPr>
        <p:spPr>
          <a:xfrm>
            <a:off x="7391400" y="4914900"/>
            <a:ext cx="2057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Contextual web search fallback chain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247D2D-785E-42F9-A822-F68A34C17B96}"/>
              </a:ext>
            </a:extLst>
          </p:cNvPr>
          <p:cNvSpPr>
            <a:spLocks noGrp="1"/>
          </p:cNvSpPr>
          <p:nvPr/>
        </p:nvSpPr>
        <p:spPr>
          <a:xfrm>
            <a:off x="9658350" y="4857750"/>
            <a:ext cx="1485900" cy="247650"/>
          </a:xfrm>
          <a:prstGeom prst="roundRect">
            <a:avLst>
              <a:gd name="adj" fmla="val 30769"/>
            </a:avLst>
          </a:prstGeom>
          <a:solidFill>
            <a:srgbClr val="13233B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BC510A-0132-43A0-ADF8-D6B195A4FC64}"/>
              </a:ext>
            </a:extLst>
          </p:cNvPr>
          <p:cNvSpPr>
            <a:spLocks noGrp="1"/>
          </p:cNvSpPr>
          <p:nvPr/>
        </p:nvSpPr>
        <p:spPr>
          <a:xfrm>
            <a:off x="9753600" y="4914900"/>
            <a:ext cx="1295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Lecture summary PDF export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246A0B-98C0-4ED7-B1A8-127AB0E27C29}"/>
              </a:ext>
            </a:extLst>
          </p:cNvPr>
          <p:cNvSpPr>
            <a:spLocks noGrp="1"/>
          </p:cNvSpPr>
          <p:nvPr/>
        </p:nvSpPr>
        <p:spPr>
          <a:xfrm>
            <a:off x="1047750" y="5276850"/>
            <a:ext cx="933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This combination is what turns static content into an interactive teaching companion rather than a simple PDF viewer.</a:t>
            </a:r>
          </a:p>
        </p:txBody>
      </p:sp>
    </p:spTree>
    <p:extLst>
      <p:ext uri="{BB962C8B-B14F-4D97-AF65-F5344CB8AC3E}">
        <p14:creationId xmlns:p14="http://schemas.microsoft.com/office/powerpoint/2010/main" val="212914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EA89FCC-AC72-43EA-9EA8-7531F14B7D08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49E6C8-026C-41EB-B72F-C98812C11861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7479AF-0879-4BA9-8824-B2DF52783D81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E5BB6-80B8-42F2-8A89-D0CAB8FDDA04}"/>
              </a:ext>
            </a:extLst>
          </p:cNvPr>
          <p:cNvSpPr>
            <a:spLocks noGrp="1"/>
          </p:cNvSpPr>
          <p:nvPr/>
        </p:nvSpPr>
        <p:spPr>
          <a:xfrm>
            <a:off x="504825" y="30480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C0EC6-0B66-4109-BD38-5E7352FF9FFA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STACK AND APIS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77C4F-18A3-4B29-A515-591F52F0CBB0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07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9561DF-EC59-44DF-91C3-2D7E464B8DD2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2184E-F47D-46B7-A624-B0897302714B}"/>
              </a:ext>
            </a:extLst>
          </p:cNvPr>
          <p:cNvSpPr>
            <a:spLocks noGrp="1"/>
          </p:cNvSpPr>
          <p:nvPr/>
        </p:nvSpPr>
        <p:spPr>
          <a:xfrm>
            <a:off x="800100" y="1091883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>
                <a:solidFill>
                  <a:srgbClr val="F8FAFF"/>
                </a:solidFill>
              </a:rPr>
              <a:t>Technology stack and implementation footprint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453FB-825C-40A0-8BB6-FBC418A68802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The project mixes modern frontend tooling, FastAPI services, retrieval infrastructure, and external AI providers.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569E50-B630-4FB3-A4EB-EDC642644D31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238500" cy="2686050"/>
          </a:xfrm>
          <a:prstGeom prst="roundRect">
            <a:avLst>
              <a:gd name="adj" fmla="val 2837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25D64-729B-4E75-BA41-80F90C02F943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76200" cy="268605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42B694-4C5B-440E-914A-9605A50F7A56}"/>
              </a:ext>
            </a:extLst>
          </p:cNvPr>
          <p:cNvSpPr>
            <a:spLocks noGrp="1"/>
          </p:cNvSpPr>
          <p:nvPr/>
        </p:nvSpPr>
        <p:spPr>
          <a:xfrm>
            <a:off x="1009650" y="26098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CE6D3D-F083-4E7C-B158-4235C01FA096}"/>
              </a:ext>
            </a:extLst>
          </p:cNvPr>
          <p:cNvSpPr>
            <a:spLocks noGrp="1"/>
          </p:cNvSpPr>
          <p:nvPr/>
        </p:nvSpPr>
        <p:spPr>
          <a:xfrm>
            <a:off x="1095375" y="2695575"/>
            <a:ext cx="95250" cy="95250"/>
          </a:xfrm>
          <a:prstGeom prst="ellipse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604911-729D-4015-A655-B2A3C333542D}"/>
              </a:ext>
            </a:extLst>
          </p:cNvPr>
          <p:cNvSpPr>
            <a:spLocks noGrp="1"/>
          </p:cNvSpPr>
          <p:nvPr/>
        </p:nvSpPr>
        <p:spPr>
          <a:xfrm>
            <a:off x="1428750" y="26289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Frontend stack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593273-DE50-4604-8928-2FBA74A5B675}"/>
              </a:ext>
            </a:extLst>
          </p:cNvPr>
          <p:cNvSpPr>
            <a:spLocks noGrp="1"/>
          </p:cNvSpPr>
          <p:nvPr/>
        </p:nvSpPr>
        <p:spPr>
          <a:xfrm>
            <a:off x="1028700" y="3067050"/>
            <a:ext cx="27813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React 18, Vite, React Router,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Tailwind styles, Framer Motion,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 err="1">
                <a:solidFill>
                  <a:srgbClr val="D9E2F2"/>
                </a:solidFill>
              </a:rPr>
              <a:t>lucide</a:t>
            </a:r>
            <a:r>
              <a:rPr sz="1300" b="0" dirty="0">
                <a:solidFill>
                  <a:srgbClr val="D9E2F2"/>
                </a:solidFill>
              </a:rPr>
              <a:t>-react icons, react-pdf for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document rendering, and </a:t>
            </a:r>
            <a:r>
              <a:rPr sz="1300" b="0" dirty="0" err="1">
                <a:solidFill>
                  <a:srgbClr val="D9E2F2"/>
                </a:solidFill>
              </a:rPr>
              <a:t>Zustand</a:t>
            </a:r>
            <a:r>
              <a:rPr sz="1300" b="0" dirty="0">
                <a:solidFill>
                  <a:srgbClr val="D9E2F2"/>
                </a:solidFill>
              </a:rPr>
              <a:t> for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auth/session state.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F7FC88A-9FE3-4F1F-9828-DCC48B890AB1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2686050"/>
          </a:xfrm>
          <a:prstGeom prst="roundRect">
            <a:avLst>
              <a:gd name="adj" fmla="val 2837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0BE854-24DE-4CFD-8957-EFB4A6D18AD0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76200" cy="2686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F3A2B1-81D6-4B03-BEAA-995516DED80C}"/>
              </a:ext>
            </a:extLst>
          </p:cNvPr>
          <p:cNvSpPr>
            <a:spLocks noGrp="1"/>
          </p:cNvSpPr>
          <p:nvPr/>
        </p:nvSpPr>
        <p:spPr>
          <a:xfrm>
            <a:off x="4686300" y="26098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D56310-DEFB-49FB-BA7F-91974BEA6146}"/>
              </a:ext>
            </a:extLst>
          </p:cNvPr>
          <p:cNvSpPr>
            <a:spLocks noGrp="1"/>
          </p:cNvSpPr>
          <p:nvPr/>
        </p:nvSpPr>
        <p:spPr>
          <a:xfrm>
            <a:off x="4733925" y="2657475"/>
            <a:ext cx="1333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AB737D-6446-4ADB-A4D1-E8D53FCC3B66}"/>
              </a:ext>
            </a:extLst>
          </p:cNvPr>
          <p:cNvSpPr>
            <a:spLocks noGrp="1"/>
          </p:cNvSpPr>
          <p:nvPr/>
        </p:nvSpPr>
        <p:spPr>
          <a:xfrm>
            <a:off x="4705350" y="2733675"/>
            <a:ext cx="1905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85DDBD-A150-4B6D-9781-54F7B93234FF}"/>
              </a:ext>
            </a:extLst>
          </p:cNvPr>
          <p:cNvSpPr>
            <a:spLocks noGrp="1"/>
          </p:cNvSpPr>
          <p:nvPr/>
        </p:nvSpPr>
        <p:spPr>
          <a:xfrm>
            <a:off x="4752975" y="2809875"/>
            <a:ext cx="95250" cy="381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62ECC0-F3B8-47B3-960B-51A556D35097}"/>
              </a:ext>
            </a:extLst>
          </p:cNvPr>
          <p:cNvSpPr>
            <a:spLocks noGrp="1"/>
          </p:cNvSpPr>
          <p:nvPr/>
        </p:nvSpPr>
        <p:spPr>
          <a:xfrm>
            <a:off x="5086350" y="2641917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Backend stack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418FBE-10FE-4C4E-9017-526098587778}"/>
              </a:ext>
            </a:extLst>
          </p:cNvPr>
          <p:cNvSpPr>
            <a:spLocks noGrp="1"/>
          </p:cNvSpPr>
          <p:nvPr/>
        </p:nvSpPr>
        <p:spPr>
          <a:xfrm>
            <a:off x="4705350" y="3054033"/>
            <a:ext cx="27813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 err="1">
                <a:solidFill>
                  <a:srgbClr val="D9E2F2"/>
                </a:solidFill>
              </a:rPr>
              <a:t>FastAPI</a:t>
            </a:r>
            <a:r>
              <a:rPr sz="1300" b="0" dirty="0">
                <a:solidFill>
                  <a:srgbClr val="D9E2F2"/>
                </a:solidFill>
              </a:rPr>
              <a:t>, Motor for MongoDB access,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JWT auth with </a:t>
            </a:r>
            <a:r>
              <a:rPr sz="1300" b="0" dirty="0" err="1">
                <a:solidFill>
                  <a:srgbClr val="D9E2F2"/>
                </a:solidFill>
              </a:rPr>
              <a:t>passlib</a:t>
            </a:r>
            <a:r>
              <a:rPr sz="1300" b="0" dirty="0">
                <a:solidFill>
                  <a:srgbClr val="D9E2F2"/>
                </a:solidFill>
              </a:rPr>
              <a:t> + python-</a:t>
            </a:r>
            <a:r>
              <a:rPr sz="1300" b="0" dirty="0" err="1">
                <a:solidFill>
                  <a:srgbClr val="D9E2F2"/>
                </a:solidFill>
              </a:rPr>
              <a:t>jose</a:t>
            </a:r>
            <a:r>
              <a:rPr sz="1300" b="0" dirty="0">
                <a:solidFill>
                  <a:srgbClr val="D9E2F2"/>
                </a:solidFill>
              </a:rPr>
              <a:t>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 err="1">
                <a:solidFill>
                  <a:srgbClr val="D9E2F2"/>
                </a:solidFill>
              </a:rPr>
              <a:t>pypdf</a:t>
            </a:r>
            <a:r>
              <a:rPr sz="1300" b="0" dirty="0">
                <a:solidFill>
                  <a:srgbClr val="D9E2F2"/>
                </a:solidFill>
              </a:rPr>
              <a:t>/</a:t>
            </a:r>
            <a:r>
              <a:rPr sz="1300" b="0" dirty="0" err="1">
                <a:solidFill>
                  <a:srgbClr val="D9E2F2"/>
                </a:solidFill>
              </a:rPr>
              <a:t>pdfplumber</a:t>
            </a:r>
            <a:r>
              <a:rPr sz="1300" b="0" dirty="0">
                <a:solidFill>
                  <a:srgbClr val="D9E2F2"/>
                </a:solidFill>
              </a:rPr>
              <a:t>/python-pptx parsing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utilities, and </a:t>
            </a:r>
            <a:r>
              <a:rPr sz="1300" b="0" dirty="0" err="1">
                <a:solidFill>
                  <a:srgbClr val="D9E2F2"/>
                </a:solidFill>
              </a:rPr>
              <a:t>httpx</a:t>
            </a:r>
            <a:r>
              <a:rPr sz="1300" b="0" dirty="0">
                <a:solidFill>
                  <a:srgbClr val="D9E2F2"/>
                </a:solidFill>
              </a:rPr>
              <a:t> for provider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integrations.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60112D-0BA4-47E1-98EA-1A48F1A35EA2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3238500" cy="2686050"/>
          </a:xfrm>
          <a:prstGeom prst="roundRect">
            <a:avLst>
              <a:gd name="adj" fmla="val 2837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05180E-2DFB-46A9-A458-E78C3F6F3325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76200" cy="26860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16C801D-A3F4-479B-9A5A-34A3E20D963F}"/>
              </a:ext>
            </a:extLst>
          </p:cNvPr>
          <p:cNvSpPr>
            <a:spLocks noGrp="1"/>
          </p:cNvSpPr>
          <p:nvPr/>
        </p:nvSpPr>
        <p:spPr>
          <a:xfrm>
            <a:off x="8362950" y="260985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8D075A-0B61-4DE5-A066-9D4DD043CF7A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0DD3FE-45F0-4F69-A0B6-2A403DBD3984}"/>
              </a:ext>
            </a:extLst>
          </p:cNvPr>
          <p:cNvSpPr>
            <a:spLocks noGrp="1"/>
          </p:cNvSpPr>
          <p:nvPr/>
        </p:nvSpPr>
        <p:spPr>
          <a:xfrm>
            <a:off x="8515350" y="274320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8D94D7-7248-4B73-A41F-BCDDEC4DF3E2}"/>
              </a:ext>
            </a:extLst>
          </p:cNvPr>
          <p:cNvSpPr>
            <a:spLocks noGrp="1"/>
          </p:cNvSpPr>
          <p:nvPr/>
        </p:nvSpPr>
        <p:spPr>
          <a:xfrm>
            <a:off x="8467725" y="2705100"/>
            <a:ext cx="85725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01D119-4D02-4F34-BEBC-C3BD412FE234}"/>
              </a:ext>
            </a:extLst>
          </p:cNvPr>
          <p:cNvSpPr>
            <a:spLocks noGrp="1"/>
          </p:cNvSpPr>
          <p:nvPr/>
        </p:nvSpPr>
        <p:spPr>
          <a:xfrm>
            <a:off x="8782050" y="26289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AI and infra stack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D65293-D119-4941-8B46-1E772C365E49}"/>
              </a:ext>
            </a:extLst>
          </p:cNvPr>
          <p:cNvSpPr>
            <a:spLocks noGrp="1"/>
          </p:cNvSpPr>
          <p:nvPr/>
        </p:nvSpPr>
        <p:spPr>
          <a:xfrm>
            <a:off x="8382000" y="3054033"/>
            <a:ext cx="27813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Google Cloud Speech streaming, Chroma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+ </a:t>
            </a:r>
            <a:r>
              <a:rPr sz="1300" b="0" dirty="0" err="1">
                <a:solidFill>
                  <a:srgbClr val="D9E2F2"/>
                </a:solidFill>
              </a:rPr>
              <a:t>HuggingFace</a:t>
            </a:r>
            <a:r>
              <a:rPr sz="1300" b="0" dirty="0">
                <a:solidFill>
                  <a:srgbClr val="D9E2F2"/>
                </a:solidFill>
              </a:rPr>
              <a:t> embeddings for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retrieval, optional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Gemini/OpenAI-compatible reasoning,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and external web search providers for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search mode.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052F9C-10C4-4003-9FEA-1BC4F40E9216}"/>
              </a:ext>
            </a:extLst>
          </p:cNvPr>
          <p:cNvSpPr>
            <a:spLocks noGrp="1"/>
          </p:cNvSpPr>
          <p:nvPr/>
        </p:nvSpPr>
        <p:spPr>
          <a:xfrm>
            <a:off x="800100" y="5391150"/>
            <a:ext cx="10591800" cy="723900"/>
          </a:xfrm>
          <a:prstGeom prst="roundRect">
            <a:avLst>
              <a:gd name="adj" fmla="val 10526"/>
            </a:avLst>
          </a:prstGeom>
          <a:solidFill>
            <a:srgbClr val="0F1726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53E0F1-3DFA-47A4-8BA1-7308A56EF6B2}"/>
              </a:ext>
            </a:extLst>
          </p:cNvPr>
          <p:cNvSpPr>
            <a:spLocks noGrp="1"/>
          </p:cNvSpPr>
          <p:nvPr/>
        </p:nvSpPr>
        <p:spPr>
          <a:xfrm>
            <a:off x="1028700" y="56007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Representative API surface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E828DAA-00A6-401C-9DD3-C60C5ACD9B5B}"/>
              </a:ext>
            </a:extLst>
          </p:cNvPr>
          <p:cNvSpPr>
            <a:spLocks noGrp="1"/>
          </p:cNvSpPr>
          <p:nvPr/>
        </p:nvSpPr>
        <p:spPr>
          <a:xfrm>
            <a:off x="3048000" y="5524500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1AB61-094F-47CD-8B44-45C7223DB2C1}"/>
              </a:ext>
            </a:extLst>
          </p:cNvPr>
          <p:cNvSpPr>
            <a:spLocks noGrp="1"/>
          </p:cNvSpPr>
          <p:nvPr/>
        </p:nvSpPr>
        <p:spPr>
          <a:xfrm>
            <a:off x="3143250" y="5581650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/auth/login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E0AC99E-FC6D-42A3-A928-E214A81A7773}"/>
              </a:ext>
            </a:extLst>
          </p:cNvPr>
          <p:cNvSpPr>
            <a:spLocks noGrp="1"/>
          </p:cNvSpPr>
          <p:nvPr/>
        </p:nvSpPr>
        <p:spPr>
          <a:xfrm>
            <a:off x="4381500" y="5524500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5D0FBB-2020-4285-A02F-750F8A840348}"/>
              </a:ext>
            </a:extLst>
          </p:cNvPr>
          <p:cNvSpPr>
            <a:spLocks noGrp="1"/>
          </p:cNvSpPr>
          <p:nvPr/>
        </p:nvSpPr>
        <p:spPr>
          <a:xfrm>
            <a:off x="4476750" y="5581650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/auth/upload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20E8C22-4FA0-4913-BED6-42A2BB82BFC4}"/>
              </a:ext>
            </a:extLst>
          </p:cNvPr>
          <p:cNvSpPr>
            <a:spLocks noGrp="1"/>
          </p:cNvSpPr>
          <p:nvPr/>
        </p:nvSpPr>
        <p:spPr>
          <a:xfrm>
            <a:off x="5715000" y="5524500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9487511-FE94-4774-8F1B-CD3F99EED44E}"/>
              </a:ext>
            </a:extLst>
          </p:cNvPr>
          <p:cNvSpPr>
            <a:spLocks noGrp="1"/>
          </p:cNvSpPr>
          <p:nvPr/>
        </p:nvSpPr>
        <p:spPr>
          <a:xfrm>
            <a:off x="5810250" y="5581650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/auth/view-doc/{id}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94DF97F-50DA-4746-9D4E-8FF15AE322DF}"/>
              </a:ext>
            </a:extLst>
          </p:cNvPr>
          <p:cNvSpPr>
            <a:spLocks noGrp="1"/>
          </p:cNvSpPr>
          <p:nvPr/>
        </p:nvSpPr>
        <p:spPr>
          <a:xfrm>
            <a:off x="7048500" y="5524500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376946-59C7-4A08-9B41-95DC554DA59E}"/>
              </a:ext>
            </a:extLst>
          </p:cNvPr>
          <p:cNvSpPr>
            <a:spLocks noGrp="1"/>
          </p:cNvSpPr>
          <p:nvPr/>
        </p:nvSpPr>
        <p:spPr>
          <a:xfrm>
            <a:off x="7143750" y="5581650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/auth/web-search/{id}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EC3DE4E-697E-4703-AF7D-93FF7741F2D2}"/>
              </a:ext>
            </a:extLst>
          </p:cNvPr>
          <p:cNvSpPr>
            <a:spLocks noGrp="1"/>
          </p:cNvSpPr>
          <p:nvPr/>
        </p:nvSpPr>
        <p:spPr>
          <a:xfrm>
            <a:off x="8382000" y="5524500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998A91-24D0-4CD8-81E7-1CFC1E70BA2F}"/>
              </a:ext>
            </a:extLst>
          </p:cNvPr>
          <p:cNvSpPr>
            <a:spLocks noGrp="1"/>
          </p:cNvSpPr>
          <p:nvPr/>
        </p:nvSpPr>
        <p:spPr>
          <a:xfrm>
            <a:off x="8477250" y="5581650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/ws/{client_id}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87698BA-4B1D-41F1-81BC-60E729D6D61E}"/>
              </a:ext>
            </a:extLst>
          </p:cNvPr>
          <p:cNvSpPr>
            <a:spLocks noGrp="1"/>
          </p:cNvSpPr>
          <p:nvPr/>
        </p:nvSpPr>
        <p:spPr>
          <a:xfrm>
            <a:off x="9715500" y="5524500"/>
            <a:ext cx="1200150" cy="247650"/>
          </a:xfrm>
          <a:prstGeom prst="roundRect">
            <a:avLst>
              <a:gd name="adj" fmla="val 30769"/>
            </a:avLst>
          </a:prstGeom>
          <a:solidFill>
            <a:srgbClr val="11263E"/>
          </a:solidFill>
          <a:ln w="4763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42BDC8-5F77-4DE6-BC6F-6C5E52B3BE21}"/>
              </a:ext>
            </a:extLst>
          </p:cNvPr>
          <p:cNvSpPr>
            <a:spLocks noGrp="1"/>
          </p:cNvSpPr>
          <p:nvPr/>
        </p:nvSpPr>
        <p:spPr>
          <a:xfrm>
            <a:off x="9810750" y="5581650"/>
            <a:ext cx="1009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2D3EE"/>
                </a:solidFill>
              </a:defRPr>
            </a:pPr>
            <a:r>
              <a:rPr sz="750" b="1">
                <a:solidFill>
                  <a:srgbClr val="22D3EE"/>
                </a:solidFill>
              </a:rPr>
              <a:t>/ws/stt/{client_id}</a:t>
            </a:r>
          </a:p>
        </p:txBody>
      </p:sp>
    </p:spTree>
    <p:extLst>
      <p:ext uri="{BB962C8B-B14F-4D97-AF65-F5344CB8AC3E}">
        <p14:creationId xmlns:p14="http://schemas.microsoft.com/office/powerpoint/2010/main" val="108327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BE969AA-AE53-450C-B457-FBE7B59B8B74}"/>
              </a:ext>
            </a:extLst>
          </p:cNvPr>
          <p:cNvSpPr>
            <a:spLocks noGrp="1"/>
          </p:cNvSpPr>
          <p:nvPr/>
        </p:nvSpPr>
        <p:spPr>
          <a:xfrm>
            <a:off x="-1143000" y="-1524000"/>
            <a:ext cx="4095750" cy="4095750"/>
          </a:xfrm>
          <a:prstGeom prst="ellipse">
            <a:avLst/>
          </a:prstGeom>
          <a:solidFill>
            <a:srgbClr val="7C3AED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D2950D-2056-488B-830C-F091FBC7ADC5}"/>
              </a:ext>
            </a:extLst>
          </p:cNvPr>
          <p:cNvSpPr>
            <a:spLocks noGrp="1"/>
          </p:cNvSpPr>
          <p:nvPr/>
        </p:nvSpPr>
        <p:spPr>
          <a:xfrm>
            <a:off x="9525000" y="-857250"/>
            <a:ext cx="2857500" cy="2857500"/>
          </a:xfrm>
          <a:prstGeom prst="ellipse">
            <a:avLst/>
          </a:prstGeom>
          <a:solidFill>
            <a:srgbClr val="06B6D4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6E4BEA-3A05-41C8-9DF9-8CC8EDCA0B66}"/>
              </a:ext>
            </a:extLst>
          </p:cNvPr>
          <p:cNvSpPr>
            <a:spLocks noGrp="1"/>
          </p:cNvSpPr>
          <p:nvPr/>
        </p:nvSpPr>
        <p:spPr>
          <a:xfrm>
            <a:off x="9334500" y="5143500"/>
            <a:ext cx="3238500" cy="2667000"/>
          </a:xfrm>
          <a:prstGeom prst="ellipse">
            <a:avLst/>
          </a:prstGeom>
          <a:solidFill>
            <a:srgbClr val="8B5CF6">
              <a:alpha val="1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4250C-D306-4A97-A8FD-826218C50909}"/>
              </a:ext>
            </a:extLst>
          </p:cNvPr>
          <p:cNvSpPr>
            <a:spLocks noGrp="1"/>
          </p:cNvSpPr>
          <p:nvPr/>
        </p:nvSpPr>
        <p:spPr>
          <a:xfrm>
            <a:off x="514350" y="304800"/>
            <a:ext cx="11163300" cy="6172200"/>
          </a:xfrm>
          <a:prstGeom prst="rect">
            <a:avLst/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0E27E-7E7C-48A2-BC6E-49D6DAE00309}"/>
              </a:ext>
            </a:extLst>
          </p:cNvPr>
          <p:cNvSpPr>
            <a:spLocks noGrp="1"/>
          </p:cNvSpPr>
          <p:nvPr/>
        </p:nvSpPr>
        <p:spPr>
          <a:xfrm>
            <a:off x="800100" y="5524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ASSESSMENT AND NEXT STEPS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344214-4595-4878-BAAD-31B16B93A3AB}"/>
              </a:ext>
            </a:extLst>
          </p:cNvPr>
          <p:cNvSpPr>
            <a:spLocks noGrp="1"/>
          </p:cNvSpPr>
          <p:nvPr/>
        </p:nvSpPr>
        <p:spPr>
          <a:xfrm>
            <a:off x="10572750" y="5524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rPr sz="900" b="1">
                <a:solidFill>
                  <a:srgbClr val="94A3B8"/>
                </a:solidFill>
              </a:rPr>
              <a:t>08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8090BE-8331-4C32-8D73-36B0645E4D1E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10591800" cy="14288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088E9B-7F87-4D61-A34E-E059BD74ACFE}"/>
              </a:ext>
            </a:extLst>
          </p:cNvPr>
          <p:cNvSpPr>
            <a:spLocks noGrp="1"/>
          </p:cNvSpPr>
          <p:nvPr/>
        </p:nvSpPr>
        <p:spPr>
          <a:xfrm>
            <a:off x="800100" y="1047750"/>
            <a:ext cx="7239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8FAFF"/>
                </a:solidFill>
              </a:defRPr>
            </a:pPr>
            <a:r>
              <a:rPr sz="2550" b="1">
                <a:solidFill>
                  <a:srgbClr val="F8FAFF"/>
                </a:solidFill>
              </a:rPr>
              <a:t>What is strong already, and what should improve next?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ECE978-B7AF-4520-8FD5-10F8F602C976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The repo already demonstrates a compelling idea, but it also reveals clear engineering opportunities for the next iteration.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9A3203-C99E-46EB-8606-0D9B5E5C2169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3429000" cy="2990850"/>
          </a:xfrm>
          <a:prstGeom prst="roundRect">
            <a:avLst>
              <a:gd name="adj" fmla="val 2548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BBB53-E3F9-4AF7-AC06-67E9BE0CCB88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76200" cy="2990850"/>
          </a:xfrm>
          <a:prstGeom prst="rect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19E205-9240-4CBB-8A0F-3C87D3692872}"/>
              </a:ext>
            </a:extLst>
          </p:cNvPr>
          <p:cNvSpPr>
            <a:spLocks noGrp="1"/>
          </p:cNvSpPr>
          <p:nvPr/>
        </p:nvSpPr>
        <p:spPr>
          <a:xfrm>
            <a:off x="1009650" y="262890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B4D457-349B-4895-9403-53A04AAC2285}"/>
              </a:ext>
            </a:extLst>
          </p:cNvPr>
          <p:cNvSpPr>
            <a:spLocks noGrp="1"/>
          </p:cNvSpPr>
          <p:nvPr/>
        </p:nvSpPr>
        <p:spPr>
          <a:xfrm>
            <a:off x="1095375" y="2714625"/>
            <a:ext cx="95250" cy="95250"/>
          </a:xfrm>
          <a:prstGeom prst="ellipse">
            <a:avLst/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5B1A0F-CB06-49D3-B043-1988FC9F4861}"/>
              </a:ext>
            </a:extLst>
          </p:cNvPr>
          <p:cNvSpPr>
            <a:spLocks noGrp="1"/>
          </p:cNvSpPr>
          <p:nvPr/>
        </p:nvSpPr>
        <p:spPr>
          <a:xfrm>
            <a:off x="1428750" y="2657475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Current strengths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CD2559-C429-495E-86B2-00F08ACCB3CC}"/>
              </a:ext>
            </a:extLst>
          </p:cNvPr>
          <p:cNvSpPr>
            <a:spLocks noGrp="1"/>
          </p:cNvSpPr>
          <p:nvPr/>
        </p:nvSpPr>
        <p:spPr>
          <a:xfrm>
            <a:off x="1028700" y="3076194"/>
            <a:ext cx="29718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The project already covers the entire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experience: auth, uploads, parsing,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vector indexing, live document control,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web search mode, and summary export.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That makes it much more complete than a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narrow proof of concept</a:t>
            </a:r>
            <a:r>
              <a:rPr sz="1050" b="0" dirty="0">
                <a:solidFill>
                  <a:srgbClr val="D9E2F2"/>
                </a:solidFill>
              </a:rPr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89DD8F-3B47-4D24-A509-E2F7DF95AC3C}"/>
              </a:ext>
            </a:extLst>
          </p:cNvPr>
          <p:cNvSpPr>
            <a:spLocks noGrp="1"/>
          </p:cNvSpPr>
          <p:nvPr/>
        </p:nvSpPr>
        <p:spPr>
          <a:xfrm>
            <a:off x="4381500" y="2400300"/>
            <a:ext cx="3429000" cy="2990850"/>
          </a:xfrm>
          <a:prstGeom prst="roundRect">
            <a:avLst>
              <a:gd name="adj" fmla="val 2548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770030-842D-45BA-9723-F8F682F22B3C}"/>
              </a:ext>
            </a:extLst>
          </p:cNvPr>
          <p:cNvSpPr>
            <a:spLocks noGrp="1"/>
          </p:cNvSpPr>
          <p:nvPr/>
        </p:nvSpPr>
        <p:spPr>
          <a:xfrm>
            <a:off x="4381500" y="2400300"/>
            <a:ext cx="76200" cy="2990850"/>
          </a:xfrm>
          <a:prstGeom prst="rect">
            <a:avLst/>
          </a:prstGeom>
          <a:solidFill>
            <a:srgbClr val="FB71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8F1BAD-0FAC-4323-BCE1-D50D88DBDB57}"/>
              </a:ext>
            </a:extLst>
          </p:cNvPr>
          <p:cNvSpPr>
            <a:spLocks noGrp="1"/>
          </p:cNvSpPr>
          <p:nvPr/>
        </p:nvSpPr>
        <p:spPr>
          <a:xfrm>
            <a:off x="4591050" y="262890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FC11E7-1BE4-481B-9EFE-9054A24694F2}"/>
              </a:ext>
            </a:extLst>
          </p:cNvPr>
          <p:cNvSpPr>
            <a:spLocks noGrp="1"/>
          </p:cNvSpPr>
          <p:nvPr/>
        </p:nvSpPr>
        <p:spPr>
          <a:xfrm>
            <a:off x="4638675" y="2676525"/>
            <a:ext cx="1333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FD385F-F408-4AC7-A6EF-3C1FCFE6917B}"/>
              </a:ext>
            </a:extLst>
          </p:cNvPr>
          <p:cNvSpPr>
            <a:spLocks noGrp="1"/>
          </p:cNvSpPr>
          <p:nvPr/>
        </p:nvSpPr>
        <p:spPr>
          <a:xfrm>
            <a:off x="4610100" y="2752725"/>
            <a:ext cx="190500" cy="57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3E1A76-9612-4ED8-A63B-7D034FEDD088}"/>
              </a:ext>
            </a:extLst>
          </p:cNvPr>
          <p:cNvSpPr>
            <a:spLocks noGrp="1"/>
          </p:cNvSpPr>
          <p:nvPr/>
        </p:nvSpPr>
        <p:spPr>
          <a:xfrm>
            <a:off x="4657725" y="2828925"/>
            <a:ext cx="95250" cy="381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E6ACEC-B085-43D0-907B-1AFF24382B2B}"/>
              </a:ext>
            </a:extLst>
          </p:cNvPr>
          <p:cNvSpPr>
            <a:spLocks noGrp="1"/>
          </p:cNvSpPr>
          <p:nvPr/>
        </p:nvSpPr>
        <p:spPr>
          <a:xfrm>
            <a:off x="5010150" y="2657475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Current risks and gaps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226E87-292E-4649-9637-225318C9D6AD}"/>
              </a:ext>
            </a:extLst>
          </p:cNvPr>
          <p:cNvSpPr>
            <a:spLocks noGrp="1"/>
          </p:cNvSpPr>
          <p:nvPr/>
        </p:nvSpPr>
        <p:spPr>
          <a:xfrm>
            <a:off x="4610100" y="3085338"/>
            <a:ext cx="29718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Upload ingestion is synchronous, which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can slow large files. Some secrets are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stored in .env. Search reliability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depends on external providers. The UI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currently focuses on PDFs even though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parsing.py also supports PPTX.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52517DD-140C-4A3F-9295-9A04B9FB8142}"/>
              </a:ext>
            </a:extLst>
          </p:cNvPr>
          <p:cNvSpPr>
            <a:spLocks noGrp="1"/>
          </p:cNvSpPr>
          <p:nvPr/>
        </p:nvSpPr>
        <p:spPr>
          <a:xfrm>
            <a:off x="7962900" y="2400300"/>
            <a:ext cx="3429000" cy="2990850"/>
          </a:xfrm>
          <a:prstGeom prst="roundRect">
            <a:avLst>
              <a:gd name="adj" fmla="val 2548"/>
            </a:avLst>
          </a:prstGeom>
          <a:solidFill>
            <a:srgbClr val="121A2B"/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60C8CD-B9DB-410F-9701-48EFA957B654}"/>
              </a:ext>
            </a:extLst>
          </p:cNvPr>
          <p:cNvSpPr>
            <a:spLocks noGrp="1"/>
          </p:cNvSpPr>
          <p:nvPr/>
        </p:nvSpPr>
        <p:spPr>
          <a:xfrm>
            <a:off x="7962900" y="2400300"/>
            <a:ext cx="76200" cy="2990850"/>
          </a:xfrm>
          <a:prstGeom prst="rect">
            <a:avLst/>
          </a:prstGeom>
          <a:solidFill>
            <a:srgbClr val="8B5C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328807-6B0C-4EBA-B6C1-E60933F7FA22}"/>
              </a:ext>
            </a:extLst>
          </p:cNvPr>
          <p:cNvSpPr>
            <a:spLocks noGrp="1"/>
          </p:cNvSpPr>
          <p:nvPr/>
        </p:nvSpPr>
        <p:spPr>
          <a:xfrm>
            <a:off x="8172450" y="2628900"/>
            <a:ext cx="266700" cy="266700"/>
          </a:xfrm>
          <a:prstGeom prst="ellipse">
            <a:avLst/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1C7CFFE-BCC9-4D8C-A316-F8089A3083FA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DF4E77-44EE-4F2A-A2DB-F34CE58CBABC}"/>
              </a:ext>
            </a:extLst>
          </p:cNvPr>
          <p:cNvSpPr>
            <a:spLocks noGrp="1"/>
          </p:cNvSpPr>
          <p:nvPr/>
        </p:nvSpPr>
        <p:spPr>
          <a:xfrm>
            <a:off x="8324850" y="2762250"/>
            <a:ext cx="57150" cy="57150"/>
          </a:xfrm>
          <a:prstGeom prst="ellipse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D657D8-112E-459B-B18B-0C578A2C4011}"/>
              </a:ext>
            </a:extLst>
          </p:cNvPr>
          <p:cNvSpPr>
            <a:spLocks noGrp="1"/>
          </p:cNvSpPr>
          <p:nvPr/>
        </p:nvSpPr>
        <p:spPr>
          <a:xfrm>
            <a:off x="8277225" y="2724150"/>
            <a:ext cx="85725" cy="19050"/>
          </a:xfrm>
          <a:prstGeom prst="rect">
            <a:avLst/>
          </a:prstGeom>
          <a:solidFill>
            <a:srgbClr val="22D3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B6526F-5B13-49C0-952E-A4A999FDB006}"/>
              </a:ext>
            </a:extLst>
          </p:cNvPr>
          <p:cNvSpPr>
            <a:spLocks noGrp="1"/>
          </p:cNvSpPr>
          <p:nvPr/>
        </p:nvSpPr>
        <p:spPr>
          <a:xfrm>
            <a:off x="8591550" y="2657475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400" b="1" dirty="0">
                <a:solidFill>
                  <a:srgbClr val="F8FAFF"/>
                </a:solidFill>
              </a:rPr>
              <a:t>Best next steps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874AAA-E8BA-44DF-9752-C103D2D758AD}"/>
              </a:ext>
            </a:extLst>
          </p:cNvPr>
          <p:cNvSpPr>
            <a:spLocks noGrp="1"/>
          </p:cNvSpPr>
          <p:nvPr/>
        </p:nvSpPr>
        <p:spPr>
          <a:xfrm>
            <a:off x="8191500" y="3075432"/>
            <a:ext cx="29718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Move ingestion to background jobs,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harden provider configuration and secret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handling, add richer analytics and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observability, improve testing, and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extend the UI so presentation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intelligence works consistently across</a:t>
            </a:r>
          </a:p>
          <a:p>
            <a:pPr algn="l">
              <a:defRPr sz="1050" b="0">
                <a:solidFill>
                  <a:srgbClr val="D9E2F2"/>
                </a:solidFill>
              </a:defRPr>
            </a:pPr>
            <a:r>
              <a:rPr sz="1300" b="0" dirty="0">
                <a:solidFill>
                  <a:srgbClr val="D9E2F2"/>
                </a:solidFill>
              </a:rPr>
              <a:t>more source formats.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477202-1031-43E3-8C30-4A2F373B1EE3}"/>
              </a:ext>
            </a:extLst>
          </p:cNvPr>
          <p:cNvSpPr>
            <a:spLocks noGrp="1"/>
          </p:cNvSpPr>
          <p:nvPr/>
        </p:nvSpPr>
        <p:spPr>
          <a:xfrm>
            <a:off x="800100" y="5753100"/>
            <a:ext cx="10591800" cy="590550"/>
          </a:xfrm>
          <a:prstGeom prst="roundRect">
            <a:avLst>
              <a:gd name="adj" fmla="val 12903"/>
            </a:avLst>
          </a:prstGeom>
          <a:solidFill>
            <a:srgbClr val="8B5CF6">
              <a:alpha val="12549"/>
            </a:srgbClr>
          </a:solidFill>
          <a:ln w="9525">
            <a:solidFill>
              <a:srgbClr val="8B5CF6">
                <a:alpha val="33333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689BE6-91EE-4E3E-A8C4-B78776F5A94B}"/>
              </a:ext>
            </a:extLst>
          </p:cNvPr>
          <p:cNvSpPr>
            <a:spLocks noGrp="1"/>
          </p:cNvSpPr>
          <p:nvPr/>
        </p:nvSpPr>
        <p:spPr>
          <a:xfrm>
            <a:off x="1047750" y="5943600"/>
            <a:ext cx="1009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8FAFF"/>
                </a:solidFill>
              </a:defRPr>
            </a:pPr>
            <a:r>
              <a:rPr sz="1200" b="1">
                <a:solidFill>
                  <a:srgbClr val="F8FAFF"/>
                </a:solidFill>
              </a:rPr>
              <a:t>Bottom line: Orato is already a strong full-stack AI product prototype, and the next round of work should focus on reliability, scalability, and polish rather than reinventing the core concept.</a:t>
            </a:r>
          </a:p>
        </p:txBody>
      </p:sp>
    </p:spTree>
    <p:extLst>
      <p:ext uri="{BB962C8B-B14F-4D97-AF65-F5344CB8AC3E}">
        <p14:creationId xmlns:p14="http://schemas.microsoft.com/office/powerpoint/2010/main" val="1174219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2086</Words>
  <Application>Microsoft Office PowerPoint</Application>
  <DocSecurity>0</DocSecurity>
  <PresentationFormat>Widescreen</PresentationFormat>
  <Paragraphs>271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Sarang Kulkarni</cp:lastModifiedBy>
  <cp:revision>1</cp:revision>
  <dcterms:created xsi:type="dcterms:W3CDTF">2026-04-20T16:46:06Z</dcterms:created>
  <dcterms:modified xsi:type="dcterms:W3CDTF">2026-04-20T17:08:59Z</dcterms:modified>
</cp:coreProperties>
</file>