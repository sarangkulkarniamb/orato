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 id="263" r:id="rId7"/>
    <p:sldId id="264" r:id="rId8"/>
    <p:sldId id="266" r:id="rId9"/>
    <p:sldId id="265" r:id="rId10"/>
    <p:sldId id="274" r:id="rId11"/>
    <p:sldId id="267" r:id="rId12"/>
    <p:sldId id="269" r:id="rId13"/>
    <p:sldId id="268" r:id="rId14"/>
    <p:sldId id="271" r:id="rId15"/>
    <p:sldId id="275" r:id="rId16"/>
    <p:sldId id="276" r:id="rId17"/>
    <p:sldId id="277" r:id="rId18"/>
    <p:sldId id="278" r:id="rId19"/>
    <p:sldId id="279" r:id="rId20"/>
    <p:sldId id="280" r:id="rId21"/>
    <p:sldId id="281" r:id="rId22"/>
    <p:sldId id="282" r:id="rId23"/>
    <p:sldId id="283" r:id="rId24"/>
    <p:sldId id="272" r:id="rId25"/>
    <p:sldId id="284" r:id="rId26"/>
    <p:sldId id="285" r:id="rId27"/>
    <p:sldId id="286" r:id="rId28"/>
    <p:sldId id="273" r:id="rId29"/>
    <p:sldId id="287" r:id="rId30"/>
    <p:sldId id="288" r:id="rId31"/>
    <p:sldId id="289" r:id="rId32"/>
    <p:sldId id="290" r:id="rId33"/>
    <p:sldId id="29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6855F5-0868-C579-CC8A-00CB57E449D3}" v="2" dt="2025-03-23T18:19:10.151"/>
    <p1510:client id="{69C0175B-E209-CF92-11DE-FEF893713A80}" v="16" dt="2025-03-24T02:28:05.5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8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786BA-5345-87BE-C2B8-859E95D3F4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BCAA8C-F1FC-EA9B-4613-59884FD7C7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D5ACDD8-561D-8334-A2E0-BE5722702400}"/>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5" name="Footer Placeholder 4">
            <a:extLst>
              <a:ext uri="{FF2B5EF4-FFF2-40B4-BE49-F238E27FC236}">
                <a16:creationId xmlns:a16="http://schemas.microsoft.com/office/drawing/2014/main" id="{4332BFB1-A308-920D-2973-C6AA04AE2A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622F67-3729-6C2B-269F-4B5AE15B08C8}"/>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3718070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67562-1145-6DD9-5FD1-6BF7F07168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EB6AB4-8661-51FF-150D-B6A79B5156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A8356C-5902-6283-0A22-6CF5B5DA66CA}"/>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5" name="Footer Placeholder 4">
            <a:extLst>
              <a:ext uri="{FF2B5EF4-FFF2-40B4-BE49-F238E27FC236}">
                <a16:creationId xmlns:a16="http://schemas.microsoft.com/office/drawing/2014/main" id="{AD9889F7-296F-D2FF-96E8-370E454015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8C38C0-A9D6-23BA-ED4E-1355338657D8}"/>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3226902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8389F-BD16-1AED-72B9-BCAC8D0A5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F7B77F-2CC6-D4CB-EE7F-C4E34CC31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427EC8-CEFD-C2CB-B56E-2BAA49901133}"/>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5" name="Footer Placeholder 4">
            <a:extLst>
              <a:ext uri="{FF2B5EF4-FFF2-40B4-BE49-F238E27FC236}">
                <a16:creationId xmlns:a16="http://schemas.microsoft.com/office/drawing/2014/main" id="{65E023AA-28A2-B29D-3D7A-CA0FFF7C3F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3120F-0AF0-4D46-EEF6-78D1806178C8}"/>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707372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C7E7-E86E-1CA9-79DA-7F93F6D9B9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B8EA43-9275-694B-8281-76E7DDEC76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9B8672-66FE-BCFC-8934-7687D4CBE1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EC85FD-5D62-9ED2-A87A-C6966BEAD668}"/>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6" name="Footer Placeholder 5">
            <a:extLst>
              <a:ext uri="{FF2B5EF4-FFF2-40B4-BE49-F238E27FC236}">
                <a16:creationId xmlns:a16="http://schemas.microsoft.com/office/drawing/2014/main" id="{12239554-B011-9FB5-D719-4EBE46CE9D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FC1157-4DBD-1896-976C-1A2F805B9905}"/>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907835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F7A7-12EB-C7EB-1CE2-D6B93C2018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2CB64C-2804-E0C3-4F33-6FE67B8437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FF28CC-61D1-4641-E312-949DA99125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6B910B-AA16-25A1-8ED0-62CAC3F7E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6A6309-D2A2-AA93-CD91-F7E1A8E39F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95988F-F42D-7241-73DC-B5E94D4FD0B4}"/>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8" name="Footer Placeholder 7">
            <a:extLst>
              <a:ext uri="{FF2B5EF4-FFF2-40B4-BE49-F238E27FC236}">
                <a16:creationId xmlns:a16="http://schemas.microsoft.com/office/drawing/2014/main" id="{B8A28279-DC86-DAA2-742B-A928CB15E6B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C1AA64-AA05-3701-9466-AA258D7BF350}"/>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281518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86F19-172D-0ECB-958D-9AC4E9284A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08693E-4828-2529-389B-EDD6B0C8DA22}"/>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4" name="Footer Placeholder 3">
            <a:extLst>
              <a:ext uri="{FF2B5EF4-FFF2-40B4-BE49-F238E27FC236}">
                <a16:creationId xmlns:a16="http://schemas.microsoft.com/office/drawing/2014/main" id="{F690490A-56FA-5DB1-DCB0-F0F4C29044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E6273C-DA17-FEE8-A343-4003ED365E3C}"/>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51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C8C61A-0279-57A4-D96E-B8EF195449BC}"/>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3" name="Footer Placeholder 2">
            <a:extLst>
              <a:ext uri="{FF2B5EF4-FFF2-40B4-BE49-F238E27FC236}">
                <a16:creationId xmlns:a16="http://schemas.microsoft.com/office/drawing/2014/main" id="{4536D382-1676-0B7F-8DE9-7F6129DF9B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7D56BE-4BED-5412-FA1F-6A02711B6C6D}"/>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1136717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F493-A201-5EEB-2338-122FB9F6F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88176E-4C11-8B57-A584-8562F35531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6D27FB-2909-D4A8-F836-97CCF74DD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88E82-79EF-9E0D-D89F-E05CBA140AAA}"/>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6" name="Footer Placeholder 5">
            <a:extLst>
              <a:ext uri="{FF2B5EF4-FFF2-40B4-BE49-F238E27FC236}">
                <a16:creationId xmlns:a16="http://schemas.microsoft.com/office/drawing/2014/main" id="{FEC27CAD-73D9-7C73-A0C3-7DAF419062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BE3D41-3160-A926-D1C3-DD03E6295389}"/>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700339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10992-2244-6A3C-910E-533BBC6A05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F09DEB-53C8-964D-7037-50632489F5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4CDADA-E09C-3CC4-1FD6-F71F78B57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689E09-BBE8-2C35-78D9-7DF7747B2142}"/>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6" name="Footer Placeholder 5">
            <a:extLst>
              <a:ext uri="{FF2B5EF4-FFF2-40B4-BE49-F238E27FC236}">
                <a16:creationId xmlns:a16="http://schemas.microsoft.com/office/drawing/2014/main" id="{8E648A2C-321B-40D6-8C56-42130AA6CA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C2F325-6213-B3DF-FF13-EC5A2C5C2125}"/>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833417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3023B-BA3B-C7E5-EF41-5035B09931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1244DD-1D2B-0969-400D-BC09C6EAF5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952803-16D5-DED8-E138-AA28823E4D06}"/>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5" name="Footer Placeholder 4">
            <a:extLst>
              <a:ext uri="{FF2B5EF4-FFF2-40B4-BE49-F238E27FC236}">
                <a16:creationId xmlns:a16="http://schemas.microsoft.com/office/drawing/2014/main" id="{CB6F0CAC-4C93-1646-F7E9-2B0F05636C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6B4CDF-2515-8BD1-27A5-D808F4662A4A}"/>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418857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A0D0C5-FADE-36D4-7C1B-CF018BD95A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B08FAF-2546-3349-8F43-CB59551641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D822C7-BF69-861A-E2A5-AF4DF8B4996D}"/>
              </a:ext>
            </a:extLst>
          </p:cNvPr>
          <p:cNvSpPr>
            <a:spLocks noGrp="1"/>
          </p:cNvSpPr>
          <p:nvPr>
            <p:ph type="dt" sz="half" idx="10"/>
          </p:nvPr>
        </p:nvSpPr>
        <p:spPr/>
        <p:txBody>
          <a:bodyPr/>
          <a:lstStyle/>
          <a:p>
            <a:fld id="{B7097145-1249-4436-93BE-2ADF52BC920A}" type="datetimeFigureOut">
              <a:rPr lang="en-IN" smtClean="0"/>
              <a:t>23-03-2025</a:t>
            </a:fld>
            <a:endParaRPr lang="en-IN"/>
          </a:p>
        </p:txBody>
      </p:sp>
      <p:sp>
        <p:nvSpPr>
          <p:cNvPr id="5" name="Footer Placeholder 4">
            <a:extLst>
              <a:ext uri="{FF2B5EF4-FFF2-40B4-BE49-F238E27FC236}">
                <a16:creationId xmlns:a16="http://schemas.microsoft.com/office/drawing/2014/main" id="{550907EF-441F-15D1-78F6-EDE07FA0A0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26B853-D5E1-0078-62DE-984D2D6F2DC8}"/>
              </a:ext>
            </a:extLst>
          </p:cNvPr>
          <p:cNvSpPr>
            <a:spLocks noGrp="1"/>
          </p:cNvSpPr>
          <p:nvPr>
            <p:ph type="sldNum" sz="quarter" idx="12"/>
          </p:nvPr>
        </p:nvSpPr>
        <p:spPr/>
        <p:txBody>
          <a:bodyPr/>
          <a:lstStyle/>
          <a:p>
            <a:fld id="{CE4FC22C-5D5F-42D8-ABAE-2A2FEBCB6846}" type="slidenum">
              <a:rPr lang="en-IN" smtClean="0"/>
              <a:t>‹#›</a:t>
            </a:fld>
            <a:endParaRPr lang="en-IN"/>
          </a:p>
        </p:txBody>
      </p:sp>
    </p:spTree>
    <p:extLst>
      <p:ext uri="{BB962C8B-B14F-4D97-AF65-F5344CB8AC3E}">
        <p14:creationId xmlns:p14="http://schemas.microsoft.com/office/powerpoint/2010/main" val="1991808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3B3C4B-48EA-5657-1552-A6575802B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E018E0-AD2E-520E-F8BE-A02255A56A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860E23-4725-BA1E-5889-59C9E16E30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097145-1249-4436-93BE-2ADF52BC920A}" type="datetimeFigureOut">
              <a:rPr lang="en-IN" smtClean="0"/>
              <a:t>23-03-2025</a:t>
            </a:fld>
            <a:endParaRPr lang="en-IN"/>
          </a:p>
        </p:txBody>
      </p:sp>
      <p:sp>
        <p:nvSpPr>
          <p:cNvPr id="5" name="Footer Placeholder 4">
            <a:extLst>
              <a:ext uri="{FF2B5EF4-FFF2-40B4-BE49-F238E27FC236}">
                <a16:creationId xmlns:a16="http://schemas.microsoft.com/office/drawing/2014/main" id="{E7E5538F-F5E5-8737-8DEF-E0B8FBDB75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049D70-2DE8-2ABF-17F5-FFCDC17C0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C22C-5D5F-42D8-ABAE-2A2FEBCB6846}" type="slidenum">
              <a:rPr lang="en-IN" smtClean="0"/>
              <a:t>‹#›</a:t>
            </a:fld>
            <a:endParaRPr lang="en-IN"/>
          </a:p>
        </p:txBody>
      </p:sp>
    </p:spTree>
    <p:extLst>
      <p:ext uri="{BB962C8B-B14F-4D97-AF65-F5344CB8AC3E}">
        <p14:creationId xmlns:p14="http://schemas.microsoft.com/office/powerpoint/2010/main" val="709956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6343863E-947E-A54C-A06F-6B9FA9C35236}"/>
              </a:ext>
            </a:extLst>
          </p:cNvPr>
          <p:cNvSpPr txBox="1">
            <a:spLocks/>
          </p:cNvSpPr>
          <p:nvPr/>
        </p:nvSpPr>
        <p:spPr>
          <a:xfrm>
            <a:off x="1524000" y="1107996"/>
            <a:ext cx="9144000" cy="552572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Presented in partial fulfilment of FPGA Lab (EC257)</a:t>
            </a: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by BATCH 3:-</a:t>
            </a: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23ECB0A07:-Ramanuj Sharma</a:t>
            </a: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23ECB0A08:-Kulkarni Sarang </a:t>
            </a:r>
            <a:r>
              <a:rPr lang="en-IN" sz="1500" dirty="0" err="1">
                <a:latin typeface="Times New Roman" panose="02020603050405020304" pitchFamily="18" charset="0"/>
                <a:ea typeface="Calibri" panose="020F0502020204030204" pitchFamily="34" charset="0"/>
                <a:cs typeface="Times New Roman" panose="02020603050405020304" pitchFamily="18" charset="0"/>
              </a:rPr>
              <a:t>Sunilrao</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23ECB0A09:-</a:t>
            </a:r>
            <a:r>
              <a:rPr lang="en-IN" sz="1500" dirty="0" err="1">
                <a:latin typeface="Times New Roman" panose="02020603050405020304" pitchFamily="18" charset="0"/>
                <a:ea typeface="Calibri" panose="020F0502020204030204" pitchFamily="34" charset="0"/>
                <a:cs typeface="Times New Roman" panose="02020603050405020304" pitchFamily="18" charset="0"/>
              </a:rPr>
              <a:t>Kanduri</a:t>
            </a:r>
            <a:r>
              <a:rPr lang="en-IN" sz="1500" dirty="0">
                <a:latin typeface="Times New Roman" panose="02020603050405020304" pitchFamily="18" charset="0"/>
                <a:ea typeface="Calibri" panose="020F0502020204030204" pitchFamily="34" charset="0"/>
                <a:cs typeface="Times New Roman" panose="02020603050405020304" pitchFamily="18" charset="0"/>
              </a:rPr>
              <a:t> Vivek Kumar</a:t>
            </a:r>
          </a:p>
          <a:p>
            <a:pPr algn="ct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Performed under Guidance of</a:t>
            </a: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Dr P. Prithvi Mam</a:t>
            </a:r>
          </a:p>
          <a:p>
            <a:pPr marL="0" indent="0" algn="ctr">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Dr </a:t>
            </a:r>
            <a:r>
              <a:rPr lang="en-IN" sz="1500" dirty="0" err="1">
                <a:latin typeface="Times New Roman" panose="02020603050405020304" pitchFamily="18" charset="0"/>
                <a:ea typeface="Calibri" panose="020F0502020204030204" pitchFamily="34" charset="0"/>
                <a:cs typeface="Times New Roman" panose="02020603050405020304" pitchFamily="18" charset="0"/>
              </a:rPr>
              <a:t>V.Narendra</a:t>
            </a:r>
            <a:r>
              <a:rPr lang="en-IN" sz="1500" dirty="0">
                <a:latin typeface="Times New Roman" panose="02020603050405020304" pitchFamily="18" charset="0"/>
                <a:ea typeface="Calibri" panose="020F0502020204030204" pitchFamily="34" charset="0"/>
                <a:cs typeface="Times New Roman" panose="02020603050405020304" pitchFamily="18" charset="0"/>
              </a:rPr>
              <a:t> Sir</a:t>
            </a:r>
          </a:p>
          <a:p>
            <a:pPr marL="0" indent="0" algn="ctr">
              <a:buNone/>
            </a:pP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IN" sz="1300" dirty="0">
              <a:latin typeface="Times New Roman" panose="02020603050405020304" pitchFamily="18" charset="0"/>
              <a:cs typeface="Times New Roman" panose="02020603050405020304" pitchFamily="18" charset="0"/>
            </a:endParaRPr>
          </a:p>
          <a:p>
            <a:pPr marL="0" indent="0" algn="ctr">
              <a:buNone/>
            </a:pP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a:p>
            <a:pPr marL="0" indent="0" algn="ctr">
              <a:buNone/>
            </a:pPr>
            <a:r>
              <a:rPr lang="en-IN" sz="1800" dirty="0">
                <a:latin typeface="Times New Roman" panose="02020603050405020304" pitchFamily="18" charset="0"/>
                <a:cs typeface="Times New Roman" panose="02020603050405020304" pitchFamily="18" charset="0"/>
              </a:rPr>
              <a:t>Department of Electronics and Communication Engineering</a:t>
            </a:r>
          </a:p>
          <a:p>
            <a:pPr marL="0" indent="0" algn="ctr">
              <a:buNone/>
            </a:pPr>
            <a:r>
              <a:rPr lang="en-IN" sz="1800" dirty="0">
                <a:latin typeface="Times New Roman" panose="02020603050405020304" pitchFamily="18" charset="0"/>
                <a:cs typeface="Times New Roman" panose="02020603050405020304" pitchFamily="18" charset="0"/>
              </a:rPr>
              <a:t>NATIONAL INSTITUTE OF TECHNOLOGY , WARANGAL</a:t>
            </a:r>
          </a:p>
          <a:p>
            <a:pPr marL="0" indent="0" algn="ctr">
              <a:buNone/>
            </a:pPr>
            <a:r>
              <a:rPr lang="en-IN" sz="1800" dirty="0">
                <a:latin typeface="Times New Roman" panose="02020603050405020304" pitchFamily="18" charset="0"/>
                <a:cs typeface="Times New Roman" panose="02020603050405020304" pitchFamily="18" charset="0"/>
              </a:rPr>
              <a:t>2024-2025</a:t>
            </a:r>
          </a:p>
        </p:txBody>
      </p:sp>
      <p:pic>
        <p:nvPicPr>
          <p:cNvPr id="4" name="Picture 4" descr="Home">
            <a:extLst>
              <a:ext uri="{FF2B5EF4-FFF2-40B4-BE49-F238E27FC236}">
                <a16:creationId xmlns:a16="http://schemas.microsoft.com/office/drawing/2014/main" id="{1A1EF39C-CD4E-06D6-55B2-B33284E56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0909" y="3870860"/>
            <a:ext cx="1450181" cy="137317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2C3E4D4-EB54-46C5-B34D-94CEAB68FEDE}"/>
              </a:ext>
            </a:extLst>
          </p:cNvPr>
          <p:cNvSpPr txBox="1"/>
          <p:nvPr/>
        </p:nvSpPr>
        <p:spPr>
          <a:xfrm>
            <a:off x="2890683" y="224275"/>
            <a:ext cx="6096000" cy="1107996"/>
          </a:xfrm>
          <a:prstGeom prst="rect">
            <a:avLst/>
          </a:prstGeom>
          <a:noFill/>
        </p:spPr>
        <p:txBody>
          <a:bodyPr wrap="square">
            <a:spAutoFit/>
          </a:bodyPr>
          <a:lstStyle/>
          <a:p>
            <a:pPr lvl="1" algn="ctr"/>
            <a:r>
              <a:rPr lang="en-IN" b="1" dirty="0">
                <a:latin typeface="Times New Roman" panose="02020603050405020304" pitchFamily="18" charset="0"/>
                <a:cs typeface="Times New Roman" panose="02020603050405020304" pitchFamily="18" charset="0"/>
              </a:rPr>
              <a:t>FPGA MINI-PROJECT</a:t>
            </a:r>
            <a:br>
              <a:rPr lang="en-IN" b="1" dirty="0">
                <a:latin typeface="Times New Roman" panose="02020603050405020304" pitchFamily="18" charset="0"/>
                <a:cs typeface="Times New Roman" panose="02020603050405020304" pitchFamily="18" charset="0"/>
              </a:rPr>
            </a:br>
            <a:r>
              <a:rPr lang="en-US" sz="1600" b="1" i="0" dirty="0">
                <a:solidFill>
                  <a:srgbClr val="404040"/>
                </a:solidFill>
                <a:effectLst/>
                <a:latin typeface="Times New Roman" panose="02020603050405020304" pitchFamily="18" charset="0"/>
                <a:cs typeface="Times New Roman" panose="02020603050405020304" pitchFamily="18" charset="0"/>
              </a:rPr>
              <a:t>FPGA Implementation of Memory Efficient Explicit Model Predictive Controller for Electric Vehicle Battery Management System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8081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E4807-58DB-0397-77B3-FFB6FC3D8D6B}"/>
              </a:ext>
            </a:extLst>
          </p:cNvPr>
          <p:cNvSpPr>
            <a:spLocks noGrp="1"/>
          </p:cNvSpPr>
          <p:nvPr>
            <p:ph type="ctrTitle"/>
          </p:nvPr>
        </p:nvSpPr>
        <p:spPr>
          <a:xfrm>
            <a:off x="1524000" y="560439"/>
            <a:ext cx="9144000" cy="1039761"/>
          </a:xfrm>
        </p:spPr>
        <p:txBody>
          <a:bodyPr>
            <a:normAutofit/>
          </a:bodyPr>
          <a:lstStyle/>
          <a:p>
            <a:r>
              <a:rPr lang="en-IN" dirty="0">
                <a:latin typeface="Times New Roman" panose="02020603050405020304" pitchFamily="18" charset="0"/>
                <a:cs typeface="Times New Roman" panose="02020603050405020304" pitchFamily="18" charset="0"/>
              </a:rPr>
              <a:t>INDEX</a:t>
            </a:r>
          </a:p>
        </p:txBody>
      </p:sp>
      <p:sp>
        <p:nvSpPr>
          <p:cNvPr id="3" name="Subtitle 2">
            <a:extLst>
              <a:ext uri="{FF2B5EF4-FFF2-40B4-BE49-F238E27FC236}">
                <a16:creationId xmlns:a16="http://schemas.microsoft.com/office/drawing/2014/main" id="{04DADA96-318F-1821-E95E-7CA4A6169B0A}"/>
              </a:ext>
            </a:extLst>
          </p:cNvPr>
          <p:cNvSpPr>
            <a:spLocks noGrp="1"/>
          </p:cNvSpPr>
          <p:nvPr>
            <p:ph type="subTitle" idx="1"/>
          </p:nvPr>
        </p:nvSpPr>
        <p:spPr>
          <a:xfrm>
            <a:off x="1524000" y="1848465"/>
            <a:ext cx="9144000" cy="4449096"/>
          </a:xfrm>
        </p:spPr>
        <p:txBody>
          <a:bodyPr vert="horz" lIns="91440" tIns="45720" rIns="91440" bIns="45720" rtlCol="0" anchor="t">
            <a:normAutofit lnSpcReduction="10000"/>
          </a:bodyPr>
          <a:lstStyle/>
          <a:p>
            <a:pPr algn="l"/>
            <a:r>
              <a:rPr lang="en-US" b="0" i="0" dirty="0">
                <a:solidFill>
                  <a:srgbClr val="262626"/>
                </a:solidFill>
                <a:effectLst/>
                <a:latin typeface="Times New Roman"/>
                <a:cs typeface="Times New Roman"/>
              </a:rPr>
              <a:t>1.</a:t>
            </a:r>
            <a:r>
              <a:rPr lang="en-US" dirty="0">
                <a:solidFill>
                  <a:srgbClr val="262626"/>
                </a:solidFill>
                <a:latin typeface="Times New Roman"/>
                <a:cs typeface="Times New Roman"/>
              </a:rPr>
              <a:t>Abstract</a:t>
            </a:r>
            <a:endParaRPr lang="en-US" dirty="0">
              <a:latin typeface="Times New Roman"/>
              <a:cs typeface="Times New Roman"/>
            </a:endParaRPr>
          </a:p>
          <a:p>
            <a:pPr algn="l"/>
            <a:r>
              <a:rPr lang="en-US" dirty="0">
                <a:cs typeface="Times New Roman"/>
              </a:rPr>
              <a:t>2.</a:t>
            </a:r>
            <a:r>
              <a:rPr lang="en-US" dirty="0">
                <a:solidFill>
                  <a:srgbClr val="262626"/>
                </a:solidFill>
                <a:cs typeface="Times New Roman"/>
              </a:rPr>
              <a:t>Introduction</a:t>
            </a:r>
            <a:endParaRPr lang="en-US" dirty="0"/>
          </a:p>
          <a:p>
            <a:pPr algn="l"/>
            <a:r>
              <a:rPr lang="en-US" b="0" i="0" dirty="0">
                <a:solidFill>
                  <a:srgbClr val="262626"/>
                </a:solidFill>
                <a:effectLst/>
                <a:latin typeface="Times New Roman" panose="02020603050405020304" pitchFamily="18" charset="0"/>
                <a:cs typeface="Times New Roman" panose="02020603050405020304" pitchFamily="18" charset="0"/>
              </a:rPr>
              <a:t>3.a)Problem statement </a:t>
            </a:r>
          </a:p>
          <a:p>
            <a:pPr algn="l"/>
            <a:r>
              <a:rPr lang="en-US" b="0" i="0" dirty="0">
                <a:solidFill>
                  <a:srgbClr val="262626"/>
                </a:solidFill>
                <a:effectLst/>
                <a:latin typeface="Times New Roman" panose="02020603050405020304" pitchFamily="18" charset="0"/>
                <a:cs typeface="Times New Roman" panose="02020603050405020304" pitchFamily="18" charset="0"/>
              </a:rPr>
              <a:t>   b)Motivation </a:t>
            </a:r>
          </a:p>
          <a:p>
            <a:pPr algn="l"/>
            <a:r>
              <a:rPr lang="en-US" b="0" i="0" dirty="0">
                <a:solidFill>
                  <a:srgbClr val="262626"/>
                </a:solidFill>
                <a:effectLst/>
                <a:latin typeface="Times New Roman" panose="02020603050405020304" pitchFamily="18" charset="0"/>
                <a:cs typeface="Times New Roman" panose="02020603050405020304" pitchFamily="18" charset="0"/>
              </a:rPr>
              <a:t>   c)Novelty </a:t>
            </a:r>
          </a:p>
          <a:p>
            <a:pPr algn="l"/>
            <a:r>
              <a:rPr lang="en-US" b="0" i="0" dirty="0">
                <a:solidFill>
                  <a:srgbClr val="262626"/>
                </a:solidFill>
                <a:effectLst/>
                <a:latin typeface="Times New Roman"/>
                <a:cs typeface="Times New Roman"/>
              </a:rPr>
              <a:t>   d)</a:t>
            </a:r>
            <a:r>
              <a:rPr lang="en-US" dirty="0">
                <a:solidFill>
                  <a:srgbClr val="262626"/>
                </a:solidFill>
                <a:latin typeface="Times New Roman"/>
                <a:cs typeface="Times New Roman"/>
              </a:rPr>
              <a:t>Objectives</a:t>
            </a:r>
            <a:r>
              <a:rPr lang="en-US" b="0" i="0" dirty="0">
                <a:solidFill>
                  <a:srgbClr val="262626"/>
                </a:solidFill>
                <a:effectLst/>
                <a:latin typeface="Times New Roman"/>
                <a:cs typeface="Times New Roman"/>
              </a:rPr>
              <a:t> </a:t>
            </a:r>
          </a:p>
          <a:p>
            <a:pPr algn="l"/>
            <a:r>
              <a:rPr lang="en-US" b="0" i="0" dirty="0">
                <a:solidFill>
                  <a:srgbClr val="262626"/>
                </a:solidFill>
                <a:effectLst/>
                <a:latin typeface="Times New Roman"/>
                <a:cs typeface="Times New Roman"/>
              </a:rPr>
              <a:t>   e</a:t>
            </a:r>
            <a:r>
              <a:rPr lang="en-US" dirty="0">
                <a:solidFill>
                  <a:srgbClr val="262626"/>
                </a:solidFill>
                <a:latin typeface="Times New Roman"/>
                <a:cs typeface="Times New Roman"/>
              </a:rPr>
              <a:t>)Implementation flow</a:t>
            </a:r>
            <a:endParaRPr lang="en-US" b="0" i="0" dirty="0">
              <a:solidFill>
                <a:srgbClr val="262626"/>
              </a:solidFill>
              <a:effectLst/>
              <a:latin typeface="Times New Roman"/>
              <a:cs typeface="Times New Roman"/>
            </a:endParaRPr>
          </a:p>
          <a:p>
            <a:pPr algn="l"/>
            <a:r>
              <a:rPr lang="en-US" b="0" i="0" dirty="0">
                <a:solidFill>
                  <a:srgbClr val="262626"/>
                </a:solidFill>
                <a:effectLst/>
                <a:latin typeface="Times New Roman"/>
                <a:cs typeface="Times New Roman"/>
              </a:rPr>
              <a:t>4.Theory </a:t>
            </a:r>
          </a:p>
          <a:p>
            <a:pPr algn="l"/>
            <a:r>
              <a:rPr lang="en-US" b="0" i="0" dirty="0">
                <a:solidFill>
                  <a:srgbClr val="262626"/>
                </a:solidFill>
                <a:effectLst/>
                <a:latin typeface="Times New Roman" panose="02020603050405020304" pitchFamily="18" charset="0"/>
                <a:cs typeface="Times New Roman" panose="02020603050405020304" pitchFamily="18" charset="0"/>
              </a:rPr>
              <a:t>5.Results and conclusion </a:t>
            </a:r>
          </a:p>
          <a:p>
            <a:pPr algn="l"/>
            <a:r>
              <a:rPr lang="en-US" b="0" i="0" dirty="0">
                <a:solidFill>
                  <a:srgbClr val="262626"/>
                </a:solidFill>
                <a:effectLst/>
                <a:latin typeface="Times New Roman" panose="02020603050405020304" pitchFamily="18" charset="0"/>
                <a:cs typeface="Times New Roman" panose="02020603050405020304" pitchFamily="18" charset="0"/>
              </a:rPr>
              <a:t>6.Future work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6818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A334F-49C6-5280-DB8A-D76EDFBD4C22}"/>
              </a:ext>
            </a:extLst>
          </p:cNvPr>
          <p:cNvSpPr>
            <a:spLocks noGrp="1"/>
          </p:cNvSpPr>
          <p:nvPr>
            <p:ph type="ctrTitle"/>
          </p:nvPr>
        </p:nvSpPr>
        <p:spPr>
          <a:xfrm>
            <a:off x="1524000" y="662344"/>
            <a:ext cx="9144000" cy="627779"/>
          </a:xfrm>
        </p:spPr>
        <p:txBody>
          <a:bodyPr>
            <a:noAutofit/>
          </a:bodyPr>
          <a:lstStyle/>
          <a:p>
            <a:r>
              <a:rPr lang="en-IN" sz="4000" dirty="0">
                <a:latin typeface="Times New Roman" panose="02020603050405020304" pitchFamily="18" charset="0"/>
                <a:cs typeface="Times New Roman" panose="02020603050405020304" pitchFamily="18" charset="0"/>
              </a:rPr>
              <a:t>Abstract</a:t>
            </a:r>
          </a:p>
        </p:txBody>
      </p:sp>
      <p:sp>
        <p:nvSpPr>
          <p:cNvPr id="3" name="Subtitle 2">
            <a:extLst>
              <a:ext uri="{FF2B5EF4-FFF2-40B4-BE49-F238E27FC236}">
                <a16:creationId xmlns:a16="http://schemas.microsoft.com/office/drawing/2014/main" id="{545AAD58-8304-8801-3AB2-72E278AD21CA}"/>
              </a:ext>
            </a:extLst>
          </p:cNvPr>
          <p:cNvSpPr>
            <a:spLocks noGrp="1"/>
          </p:cNvSpPr>
          <p:nvPr>
            <p:ph type="subTitle" idx="1"/>
          </p:nvPr>
        </p:nvSpPr>
        <p:spPr>
          <a:xfrm>
            <a:off x="1524000" y="2054942"/>
            <a:ext cx="9144000" cy="4581832"/>
          </a:xfrm>
        </p:spPr>
        <p:txBody>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C453C7D9-A280-F8E2-A3AE-97F1A47DDDC6}"/>
              </a:ext>
            </a:extLst>
          </p:cNvPr>
          <p:cNvSpPr>
            <a:spLocks noChangeArrowheads="1"/>
          </p:cNvSpPr>
          <p:nvPr/>
        </p:nvSpPr>
        <p:spPr bwMode="auto">
          <a:xfrm>
            <a:off x="1022556" y="1268065"/>
            <a:ext cx="10127226" cy="4857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Problem</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solidFill>
                  <a:srgbClr val="404040"/>
                </a:solidFill>
                <a:latin typeface="Times New Roman" panose="02020603050405020304" pitchFamily="18" charset="0"/>
                <a:cs typeface="Times New Roman" panose="02020603050405020304" pitchFamily="18" charset="0"/>
              </a:rPr>
              <a:t>Nowadays </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Explicit Model Predictive Control (EMPC) is </a:t>
            </a:r>
            <a:r>
              <a:rPr lang="en-US" altLang="en-US" dirty="0">
                <a:solidFill>
                  <a:srgbClr val="404040"/>
                </a:solidFill>
                <a:latin typeface="Times New Roman" panose="02020603050405020304" pitchFamily="18" charset="0"/>
                <a:cs typeface="Times New Roman" panose="02020603050405020304" pitchFamily="18" charset="0"/>
              </a:rPr>
              <a:t>go to controller for most</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 tasks but faces scalability issues due to exponential memory growth with system size.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In systems like EV battery management, high memory and power consumption hinder the efficiency and 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Solution</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We are introducing </a:t>
            </a:r>
            <a:r>
              <a:rPr kumimoji="0" lang="en-US" altLang="en-US"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posit number syste</a:t>
            </a:r>
            <a:r>
              <a:rPr lang="en-US" altLang="en-US" b="1" dirty="0">
                <a:solidFill>
                  <a:srgbClr val="404040"/>
                </a:solidFill>
                <a:latin typeface="Times New Roman" panose="02020603050405020304" pitchFamily="18" charset="0"/>
                <a:cs typeface="Times New Roman" panose="02020603050405020304" pitchFamily="18" charset="0"/>
              </a:rPr>
              <a:t>m for arithmetic operations</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 as a memory-efficient alternative to IEEE 754 floating-point numbers.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Implementation</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a:t>
            </a:r>
          </a:p>
          <a:p>
            <a:pPr lvl="1" eaLnBrk="0" fontAlgn="base" hangingPunct="0">
              <a:spcBef>
                <a:spcPct val="0"/>
              </a:spcBef>
              <a:spcAft>
                <a:spcPct val="0"/>
              </a:spcAft>
              <a:buFontTx/>
              <a:buChar char="•"/>
            </a:pPr>
            <a:r>
              <a:rPr lang="en-US" altLang="en-US" dirty="0">
                <a:solidFill>
                  <a:srgbClr val="404040"/>
                </a:solidFill>
                <a:latin typeface="Times New Roman" panose="02020603050405020304" pitchFamily="18" charset="0"/>
                <a:cs typeface="Times New Roman" panose="02020603050405020304" pitchFamily="18" charset="0"/>
              </a:rPr>
              <a:t>Use MATLAB to formulate EMPC model and generate PWA(Piecewise affine) Function.</a:t>
            </a:r>
          </a:p>
          <a:p>
            <a:pPr lvl="1" eaLnBrk="0" fontAlgn="base" hangingPunct="0">
              <a:spcBef>
                <a:spcPct val="0"/>
              </a:spcBef>
              <a:spcAft>
                <a:spcPct val="0"/>
              </a:spcAft>
              <a:buFontTx/>
              <a:buChar char="•"/>
            </a:pP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Verilog implementation of PLA(Point Location Algorithm) and posit number ALU (</a:t>
            </a:r>
            <a:r>
              <a:rPr kumimoji="0" lang="en-US" altLang="en-US" b="0" i="0" u="none" strike="noStrike" cap="none" normalizeH="0" baseline="0" dirty="0" err="1">
                <a:ln>
                  <a:noFill/>
                </a:ln>
                <a:solidFill>
                  <a:srgbClr val="404040"/>
                </a:solidFill>
                <a:effectLst/>
                <a:latin typeface="Times New Roman" panose="02020603050405020304" pitchFamily="18" charset="0"/>
                <a:cs typeface="Times New Roman" panose="02020603050405020304" pitchFamily="18" charset="0"/>
              </a:rPr>
              <a:t>Arithmatic</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 logic Unit) to calculate appropriate control 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Results</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Achieve </a:t>
            </a:r>
            <a:r>
              <a:rPr lang="en-US" altLang="en-US" b="1" dirty="0">
                <a:solidFill>
                  <a:srgbClr val="404040"/>
                </a:solidFill>
                <a:latin typeface="Times New Roman" panose="02020603050405020304" pitchFamily="18" charset="0"/>
                <a:cs typeface="Times New Roman" panose="02020603050405020304" pitchFamily="18" charset="0"/>
              </a:rPr>
              <a:t>60% to 80% </a:t>
            </a:r>
            <a:r>
              <a:rPr kumimoji="0" lang="en-US" altLang="en-US"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memory reduction</a:t>
            </a: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 compared to IEEE 754 floats.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rPr>
              <a:t>Validate the approach through hardware-in-the-loop (HIL) co-simulation.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B3EADF97-85E7-CED5-0090-644D843560A6}"/>
              </a:ext>
            </a:extLst>
          </p:cNvPr>
          <p:cNvSpPr>
            <a:spLocks noChangeArrowheads="1"/>
          </p:cNvSpPr>
          <p:nvPr/>
        </p:nvSpPr>
        <p:spPr bwMode="auto">
          <a:xfrm>
            <a:off x="0" y="-230346"/>
            <a:ext cx="18473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395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A46C7-0120-80CB-DCBD-8B260A20393A}"/>
              </a:ext>
            </a:extLst>
          </p:cNvPr>
          <p:cNvSpPr>
            <a:spLocks noGrp="1"/>
          </p:cNvSpPr>
          <p:nvPr>
            <p:ph type="ctrTitle"/>
          </p:nvPr>
        </p:nvSpPr>
        <p:spPr>
          <a:xfrm>
            <a:off x="1524000" y="786582"/>
            <a:ext cx="9144000" cy="698090"/>
          </a:xfrm>
        </p:spPr>
        <p:txBody>
          <a:bodyPr>
            <a:normAutofit fontScale="90000"/>
          </a:bodyPr>
          <a:lstStyle/>
          <a:p>
            <a:r>
              <a:rPr lang="en-IN" dirty="0"/>
              <a:t>Introduction</a:t>
            </a:r>
          </a:p>
        </p:txBody>
      </p:sp>
      <p:sp>
        <p:nvSpPr>
          <p:cNvPr id="3" name="Subtitle 2">
            <a:extLst>
              <a:ext uri="{FF2B5EF4-FFF2-40B4-BE49-F238E27FC236}">
                <a16:creationId xmlns:a16="http://schemas.microsoft.com/office/drawing/2014/main" id="{721AD6FF-00F4-5E35-3548-98FB850839CB}"/>
              </a:ext>
            </a:extLst>
          </p:cNvPr>
          <p:cNvSpPr>
            <a:spLocks noGrp="1"/>
          </p:cNvSpPr>
          <p:nvPr>
            <p:ph type="subTitle" idx="1"/>
          </p:nvPr>
        </p:nvSpPr>
        <p:spPr>
          <a:xfrm>
            <a:off x="1101213" y="1818970"/>
            <a:ext cx="9802761" cy="4552334"/>
          </a:xfrm>
        </p:spPr>
        <p:txBody>
          <a:bodyPr>
            <a:normAutofit fontScale="85000" lnSpcReduction="20000"/>
          </a:bodyPr>
          <a:lstStyle/>
          <a:p>
            <a:pPr algn="l">
              <a:spcAft>
                <a:spcPts val="300"/>
              </a:spcAft>
              <a:buFont typeface="Arial" panose="020B0604020202020204" pitchFamily="34" charset="0"/>
              <a:buChar char="•"/>
            </a:pPr>
            <a:r>
              <a:rPr lang="en-US" b="1" i="0" dirty="0">
                <a:solidFill>
                  <a:srgbClr val="404040"/>
                </a:solidFill>
                <a:effectLst/>
                <a:latin typeface="Inter"/>
              </a:rPr>
              <a:t>Model Predictive Control (MPC)</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A control strategy used in various applications, including electric vehicles (EVs), industrial automation, and renewable energy systems.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Solves constrained optimization problems at each sampling instant to compute optimal control actions.</a:t>
            </a: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Explicit MPC (EMPC)</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Pre-computes control laws offline using multi-parametric programming (</a:t>
            </a:r>
            <a:r>
              <a:rPr lang="en-US" b="0" i="0" dirty="0" err="1">
                <a:solidFill>
                  <a:srgbClr val="404040"/>
                </a:solidFill>
                <a:effectLst/>
                <a:latin typeface="Inter"/>
              </a:rPr>
              <a:t>mp</a:t>
            </a:r>
            <a:r>
              <a:rPr lang="en-US" b="0" i="0" dirty="0">
                <a:solidFill>
                  <a:srgbClr val="404040"/>
                </a:solidFill>
                <a:effectLst/>
                <a:latin typeface="Inter"/>
              </a:rPr>
              <a:t>-QP).</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Stores control laws in lookup tables (LUTs) for real-time evaluation, reducing online computational burden.</a:t>
            </a: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Challenges</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High memory requirements for storing control regions and feedback laws.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Exponential growth in memory demand with increasing states, inputs, and prediction horizons.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IEEE 754 floating-point numbers are inefficient for embedded systems due to high memory and power consumption.</a:t>
            </a: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Objective</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Develop a </a:t>
            </a:r>
            <a:r>
              <a:rPr lang="en-US" b="1" i="0" dirty="0">
                <a:solidFill>
                  <a:srgbClr val="404040"/>
                </a:solidFill>
                <a:effectLst/>
                <a:latin typeface="Inter"/>
              </a:rPr>
              <a:t>memory-efficient EMPC</a:t>
            </a:r>
            <a:r>
              <a:rPr lang="en-US" b="0" i="0" dirty="0">
                <a:solidFill>
                  <a:srgbClr val="404040"/>
                </a:solidFill>
                <a:effectLst/>
                <a:latin typeface="Inter"/>
              </a:rPr>
              <a:t> using posit number format for FPGA-based EV battery management.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Reduce memory footprints and power consumption while maintaining control performance.</a:t>
            </a:r>
          </a:p>
          <a:p>
            <a:endParaRPr lang="en-IN" dirty="0"/>
          </a:p>
        </p:txBody>
      </p:sp>
    </p:spTree>
    <p:extLst>
      <p:ext uri="{BB962C8B-B14F-4D97-AF65-F5344CB8AC3E}">
        <p14:creationId xmlns:p14="http://schemas.microsoft.com/office/powerpoint/2010/main" val="1651435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12A85-E69E-4C59-C3ED-254E27D405FB}"/>
              </a:ext>
            </a:extLst>
          </p:cNvPr>
          <p:cNvSpPr>
            <a:spLocks noGrp="1"/>
          </p:cNvSpPr>
          <p:nvPr>
            <p:ph type="ctrTitle"/>
          </p:nvPr>
        </p:nvSpPr>
        <p:spPr>
          <a:xfrm>
            <a:off x="1524000" y="955215"/>
            <a:ext cx="9144000" cy="431133"/>
          </a:xfrm>
        </p:spPr>
        <p:txBody>
          <a:bodyPr>
            <a:normAutofit fontScale="90000"/>
          </a:bodyPr>
          <a:lstStyle/>
          <a:p>
            <a:r>
              <a:rPr lang="en-IN" dirty="0"/>
              <a:t>Problem statement</a:t>
            </a:r>
          </a:p>
        </p:txBody>
      </p:sp>
      <p:sp>
        <p:nvSpPr>
          <p:cNvPr id="3" name="Subtitle 2">
            <a:extLst>
              <a:ext uri="{FF2B5EF4-FFF2-40B4-BE49-F238E27FC236}">
                <a16:creationId xmlns:a16="http://schemas.microsoft.com/office/drawing/2014/main" id="{434F58BF-6228-E8BD-E083-12ACB3F3DB32}"/>
              </a:ext>
            </a:extLst>
          </p:cNvPr>
          <p:cNvSpPr>
            <a:spLocks noGrp="1"/>
          </p:cNvSpPr>
          <p:nvPr>
            <p:ph type="subTitle" idx="1"/>
          </p:nvPr>
        </p:nvSpPr>
        <p:spPr>
          <a:xfrm>
            <a:off x="1524000" y="1681316"/>
            <a:ext cx="9144000" cy="5014452"/>
          </a:xfrm>
        </p:spPr>
        <p:txBody>
          <a:bodyPr>
            <a:normAutofit/>
          </a:bodyPr>
          <a:lstStyle/>
          <a:p>
            <a:pPr algn="l">
              <a:spcAft>
                <a:spcPts val="300"/>
              </a:spcAft>
              <a:buFont typeface="Arial" panose="020B0604020202020204" pitchFamily="34" charset="0"/>
              <a:buChar char="•"/>
            </a:pPr>
            <a:r>
              <a:rPr lang="en-US" b="1" i="0" dirty="0">
                <a:solidFill>
                  <a:srgbClr val="404040"/>
                </a:solidFill>
                <a:effectLst/>
                <a:latin typeface="Inter"/>
              </a:rPr>
              <a:t>Issue</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Traditional EMPC implementations rely on IEEE 754 floating-point numbers, which are memory-intensive and power-hungry.</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High memory requirements hinder scalability in embedded systems, especially for EV battery management systems with multiple states and long prediction horizons.</a:t>
            </a: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Proposed Solution</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Use </a:t>
            </a:r>
            <a:r>
              <a:rPr lang="en-US" b="1" i="0" dirty="0">
                <a:solidFill>
                  <a:srgbClr val="404040"/>
                </a:solidFill>
                <a:effectLst/>
                <a:latin typeface="Inter"/>
              </a:rPr>
              <a:t>posit number format</a:t>
            </a:r>
            <a:r>
              <a:rPr lang="en-US" b="0" i="0" dirty="0">
                <a:solidFill>
                  <a:srgbClr val="404040"/>
                </a:solidFill>
                <a:effectLst/>
                <a:latin typeface="Inter"/>
              </a:rPr>
              <a:t> to replace IEEE 754 floating-point numbers.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Posit numbers offer dynamic bit allocation for better precision and range with fewer bits.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Develop a posit-based ALU for FPGA to enable memory-efficient EMPC.</a:t>
            </a: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Impact</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Enable real-time, energy-efficient control for EV battery management.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Reduce memory and power consumption, making EMPC feasible for resource-constrained embedded systems.</a:t>
            </a:r>
          </a:p>
          <a:p>
            <a:endParaRPr lang="en-IN" dirty="0"/>
          </a:p>
        </p:txBody>
      </p:sp>
    </p:spTree>
    <p:extLst>
      <p:ext uri="{BB962C8B-B14F-4D97-AF65-F5344CB8AC3E}">
        <p14:creationId xmlns:p14="http://schemas.microsoft.com/office/powerpoint/2010/main" val="2122989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FD0C0-A491-E875-FE34-08E360C0A35C}"/>
              </a:ext>
            </a:extLst>
          </p:cNvPr>
          <p:cNvSpPr>
            <a:spLocks noGrp="1"/>
          </p:cNvSpPr>
          <p:nvPr>
            <p:ph type="ctrTitle"/>
          </p:nvPr>
        </p:nvSpPr>
        <p:spPr>
          <a:xfrm>
            <a:off x="1524000" y="915885"/>
            <a:ext cx="9144000" cy="578618"/>
          </a:xfrm>
        </p:spPr>
        <p:txBody>
          <a:bodyPr>
            <a:normAutofit fontScale="90000"/>
          </a:bodyPr>
          <a:lstStyle/>
          <a:p>
            <a:r>
              <a:rPr lang="en-IN" dirty="0"/>
              <a:t>Motivation</a:t>
            </a:r>
          </a:p>
        </p:txBody>
      </p:sp>
      <p:sp>
        <p:nvSpPr>
          <p:cNvPr id="4" name="Rectangle 1">
            <a:extLst>
              <a:ext uri="{FF2B5EF4-FFF2-40B4-BE49-F238E27FC236}">
                <a16:creationId xmlns:a16="http://schemas.microsoft.com/office/drawing/2014/main" id="{04962F2C-CE3C-4B5D-370E-8C1204878D34}"/>
              </a:ext>
            </a:extLst>
          </p:cNvPr>
          <p:cNvSpPr>
            <a:spLocks noChangeArrowheads="1"/>
          </p:cNvSpPr>
          <p:nvPr/>
        </p:nvSpPr>
        <p:spPr bwMode="auto">
          <a:xfrm>
            <a:off x="1130710" y="1616569"/>
            <a:ext cx="10343535" cy="461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404040"/>
                </a:solidFill>
                <a:effectLst/>
                <a:latin typeface="Inter"/>
              </a:rPr>
              <a:t>Why This Work?</a:t>
            </a:r>
            <a:endParaRPr kumimoji="0" lang="en-US" altLang="en-US" sz="1600" b="0" i="0" u="none" strike="noStrike" cap="none" normalizeH="0" baseline="0" dirty="0">
              <a:ln>
                <a:noFill/>
              </a:ln>
              <a:solidFill>
                <a:srgbClr val="404040"/>
              </a:solidFill>
              <a:effectLst/>
              <a:latin typeface="Inter"/>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EV battery management is critical for maximizing energy efficiency, extending battery life, and ensuring safe operation.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Real-time EMPC is challenging due to high memory and computational requirements.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IEEE 754 floating-point numbers are inefficient for embedded systems, leading to high power consumption and memory usage.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404040"/>
                </a:solidFill>
                <a:effectLst/>
                <a:latin typeface="Inter"/>
              </a:rPr>
              <a:t>Applications</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Campus electric vehicles (e-bikes, shuttle buses, service carts).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404040"/>
                </a:solidFill>
                <a:effectLst/>
                <a:latin typeface="Inter"/>
              </a:rPr>
              <a:t>Maximizing Battery Life</a:t>
            </a:r>
            <a:r>
              <a:rPr kumimoji="0" lang="en-US" altLang="en-US" sz="1600" b="0" i="0" u="none" strike="noStrike" cap="none" normalizeH="0" baseline="0" dirty="0">
                <a:ln>
                  <a:noFill/>
                </a:ln>
                <a:solidFill>
                  <a:srgbClr val="404040"/>
                </a:solidFill>
                <a:effectLst/>
                <a:latin typeface="Inter"/>
              </a:rPr>
              <a:t>: Smart predictive control optimizes charging and discharging cycles, preventing premature battery degradation.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404040"/>
                </a:solidFill>
                <a:effectLst/>
                <a:latin typeface="Inter"/>
              </a:rPr>
              <a:t>Improving Energy Efficiency</a:t>
            </a:r>
            <a:r>
              <a:rPr kumimoji="0" lang="en-US" altLang="en-US" sz="1600" b="0" i="0" u="none" strike="noStrike" cap="none" normalizeH="0" baseline="0" dirty="0">
                <a:ln>
                  <a:noFill/>
                </a:ln>
                <a:solidFill>
                  <a:srgbClr val="404040"/>
                </a:solidFill>
                <a:effectLst/>
                <a:latin typeface="Inter"/>
              </a:rPr>
              <a:t>: Reduced computational overhead enables real-time optimization of power usage, leading to longer operating hours.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404040"/>
                </a:solidFill>
                <a:effectLst/>
                <a:latin typeface="Inter"/>
              </a:rPr>
              <a:t>Enhancing Sustainability</a:t>
            </a:r>
            <a:r>
              <a:rPr kumimoji="0" lang="en-US" altLang="en-US" sz="1600" b="0" i="0" u="none" strike="noStrike" cap="none" normalizeH="0" baseline="0" dirty="0">
                <a:ln>
                  <a:noFill/>
                </a:ln>
                <a:solidFill>
                  <a:srgbClr val="404040"/>
                </a:solidFill>
                <a:effectLst/>
                <a:latin typeface="Inter"/>
              </a:rPr>
              <a:t>: Lower power consumption and efficient battery usage contribute to a greener campus transportation system.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404040"/>
                </a:solidFill>
                <a:effectLst/>
                <a:latin typeface="Inter"/>
              </a:rPr>
              <a:t>Reducing Maintenance Costs</a:t>
            </a:r>
            <a:r>
              <a:rPr kumimoji="0" lang="en-US" altLang="en-US" sz="1600" b="0" i="0" u="none" strike="noStrike" cap="none" normalizeH="0" baseline="0" dirty="0">
                <a:ln>
                  <a:noFill/>
                </a:ln>
                <a:solidFill>
                  <a:srgbClr val="404040"/>
                </a:solidFill>
                <a:effectLst/>
                <a:latin typeface="Inter"/>
              </a:rPr>
              <a:t>: Predictive control helps prevent battery failures and reduces the frequency of replacements, lowering overall operational costs.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3707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4908-7039-5063-7BC1-9BDF02F491DC}"/>
              </a:ext>
            </a:extLst>
          </p:cNvPr>
          <p:cNvSpPr>
            <a:spLocks noGrp="1"/>
          </p:cNvSpPr>
          <p:nvPr>
            <p:ph type="ctrTitle"/>
          </p:nvPr>
        </p:nvSpPr>
        <p:spPr>
          <a:xfrm>
            <a:off x="1524000" y="806245"/>
            <a:ext cx="9144000" cy="993058"/>
          </a:xfrm>
        </p:spPr>
        <p:txBody>
          <a:bodyPr/>
          <a:lstStyle/>
          <a:p>
            <a:r>
              <a:rPr lang="en-IN" dirty="0"/>
              <a:t>Novelty</a:t>
            </a:r>
          </a:p>
        </p:txBody>
      </p:sp>
      <p:sp>
        <p:nvSpPr>
          <p:cNvPr id="3" name="Subtitle 2">
            <a:extLst>
              <a:ext uri="{FF2B5EF4-FFF2-40B4-BE49-F238E27FC236}">
                <a16:creationId xmlns:a16="http://schemas.microsoft.com/office/drawing/2014/main" id="{59129787-A058-E25D-C48A-81794041992F}"/>
              </a:ext>
            </a:extLst>
          </p:cNvPr>
          <p:cNvSpPr>
            <a:spLocks noGrp="1"/>
          </p:cNvSpPr>
          <p:nvPr>
            <p:ph type="subTitle" idx="1"/>
          </p:nvPr>
        </p:nvSpPr>
        <p:spPr>
          <a:xfrm>
            <a:off x="1524000" y="2143431"/>
            <a:ext cx="9144000" cy="3687097"/>
          </a:xfrm>
        </p:spPr>
        <p:txBody>
          <a:bodyPr/>
          <a:lstStyle/>
          <a:p>
            <a:pPr marL="285750" indent="-285750" algn="l">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This project introduces a novel EV battery management approach by integrating Explicit Model Predictive Control (EMPC) and posit arithmetic on FPGA-embedded systems. </a:t>
            </a:r>
          </a:p>
          <a:p>
            <a:pPr marL="285750" indent="-285750" algn="l">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Unlike traditional floating-point implementations with high memory and power consumption, our method leverages the efficiency of posit numbers in order to provide significant memory savings without loss of computational precision. </a:t>
            </a:r>
          </a:p>
          <a:p>
            <a:pPr marL="285750" indent="-285750" algn="l">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This is possible without loss of performance in real-time predictive control within power-limited and memory-restricted environments. Furthermore, our end-to-end automated system makes the integration of posit-based arithmetic into EMPC simpler, thus providing a scalable and energy-efficient battery management solution for electric vehicles. </a:t>
            </a:r>
          </a:p>
          <a:p>
            <a:pPr marL="285750" indent="-285750" algn="l">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This innovation makes the use of EMPC in real-world applications for electric vehicles more practical, particularly in the context of extreme power and memory-restricted embedded systems.</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IN" dirty="0"/>
          </a:p>
        </p:txBody>
      </p:sp>
    </p:spTree>
    <p:extLst>
      <p:ext uri="{BB962C8B-B14F-4D97-AF65-F5344CB8AC3E}">
        <p14:creationId xmlns:p14="http://schemas.microsoft.com/office/powerpoint/2010/main" val="1267207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CAD3-9B2D-6995-865C-61C00090714F}"/>
              </a:ext>
            </a:extLst>
          </p:cNvPr>
          <p:cNvSpPr>
            <a:spLocks noGrp="1"/>
          </p:cNvSpPr>
          <p:nvPr>
            <p:ph type="ctrTitle"/>
          </p:nvPr>
        </p:nvSpPr>
        <p:spPr>
          <a:xfrm>
            <a:off x="1524000" y="747253"/>
            <a:ext cx="9144000" cy="747250"/>
          </a:xfrm>
        </p:spPr>
        <p:txBody>
          <a:bodyPr>
            <a:normAutofit fontScale="90000"/>
          </a:bodyPr>
          <a:lstStyle/>
          <a:p>
            <a:r>
              <a:rPr lang="en-IN" dirty="0"/>
              <a:t>Objectives</a:t>
            </a:r>
          </a:p>
        </p:txBody>
      </p:sp>
      <p:sp>
        <p:nvSpPr>
          <p:cNvPr id="7" name="Rectangle 4">
            <a:extLst>
              <a:ext uri="{FF2B5EF4-FFF2-40B4-BE49-F238E27FC236}">
                <a16:creationId xmlns:a16="http://schemas.microsoft.com/office/drawing/2014/main" id="{51A995A3-73CA-8FEC-34CC-5D5635266457}"/>
              </a:ext>
            </a:extLst>
          </p:cNvPr>
          <p:cNvSpPr>
            <a:spLocks noChangeArrowheads="1"/>
          </p:cNvSpPr>
          <p:nvPr/>
        </p:nvSpPr>
        <p:spPr bwMode="auto">
          <a:xfrm>
            <a:off x="1524000" y="1332666"/>
            <a:ext cx="8724568" cy="4888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5392"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404040"/>
                </a:solidFill>
                <a:effectLst/>
                <a:latin typeface="Inter"/>
              </a:rPr>
              <a:t>Develop a Memory-Efficient EMPC Framework</a:t>
            </a:r>
            <a:r>
              <a:rPr kumimoji="0" lang="en-US" altLang="en-US"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Reduce memory requirements using posit numbers.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Enable real-time control for EV battery management.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404040"/>
                </a:solidFill>
                <a:effectLst/>
                <a:latin typeface="Inter"/>
              </a:rPr>
              <a:t>Optimize Energy Efficiency</a:t>
            </a:r>
            <a:r>
              <a:rPr kumimoji="0" lang="en-US" altLang="en-US"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Improve battery life and reduce energy losses.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Ensure stable operation under varying conditions.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rgbClr val="404040"/>
                </a:solidFill>
                <a:effectLst/>
                <a:latin typeface="Inter"/>
              </a:rPr>
              <a:t>Minimize Memory Requirements for Embedded Implementation</a:t>
            </a:r>
            <a:r>
              <a:rPr kumimoji="0" lang="en-US" altLang="en-US"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Reduce the complexity of lookup tables (LUTs) and precomputed control laws.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Enable EMPC for resource-constrained embedded systems.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rgbClr val="404040"/>
                </a:solidFill>
                <a:effectLst/>
                <a:latin typeface="Inter"/>
              </a:rPr>
              <a:t>Enable Real-Time Control on FPGA</a:t>
            </a:r>
            <a:r>
              <a:rPr kumimoji="0" lang="en-US" altLang="en-US"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Implement a fast region-search algorithm in Verilog.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Ensure low computational overhead for real-time control.</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rgbClr val="404040"/>
                </a:solidFill>
                <a:effectLst/>
                <a:latin typeface="Inter"/>
              </a:rPr>
              <a:t>Verify Performance Using Simulation and FPGA Implementation</a:t>
            </a:r>
            <a:r>
              <a:rPr kumimoji="0" lang="en-US" altLang="en-US"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Simulate the EMPC controller in MATLAB.</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040"/>
                </a:solidFill>
                <a:effectLst/>
                <a:latin typeface="Inter"/>
              </a:rPr>
              <a:t>Validate the FPGA implementation through hardware-in-the-loop (HIL) co-simulation</a:t>
            </a:r>
            <a:r>
              <a:rPr kumimoji="0" lang="en-US" altLang="en-US" sz="1400" b="0" i="0" u="none" strike="noStrike" cap="none" normalizeH="0" baseline="0" dirty="0">
                <a:ln>
                  <a:noFill/>
                </a:ln>
                <a:solidFill>
                  <a:srgbClr val="404040"/>
                </a:solidFill>
                <a:effectLst/>
                <a:latin typeface="Inter"/>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098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36C90-5339-8B31-A5EB-B9EC0273361E}"/>
              </a:ext>
            </a:extLst>
          </p:cNvPr>
          <p:cNvSpPr>
            <a:spLocks noGrp="1"/>
          </p:cNvSpPr>
          <p:nvPr>
            <p:ph type="title"/>
          </p:nvPr>
        </p:nvSpPr>
        <p:spPr/>
        <p:txBody>
          <a:bodyPr/>
          <a:lstStyle/>
          <a:p>
            <a:pPr algn="ctr"/>
            <a:r>
              <a:rPr lang="en-IN" dirty="0"/>
              <a:t>Implementation Steps</a:t>
            </a:r>
          </a:p>
        </p:txBody>
      </p:sp>
      <p:sp>
        <p:nvSpPr>
          <p:cNvPr id="7" name="Rectangle 4">
            <a:extLst>
              <a:ext uri="{FF2B5EF4-FFF2-40B4-BE49-F238E27FC236}">
                <a16:creationId xmlns:a16="http://schemas.microsoft.com/office/drawing/2014/main" id="{22C03DF9-9ED0-7A4B-0AC6-BF2F6044BD1D}"/>
              </a:ext>
            </a:extLst>
          </p:cNvPr>
          <p:cNvSpPr>
            <a:spLocks noChangeArrowheads="1"/>
          </p:cNvSpPr>
          <p:nvPr/>
        </p:nvSpPr>
        <p:spPr bwMode="auto">
          <a:xfrm>
            <a:off x="1317523" y="1400841"/>
            <a:ext cx="9625780" cy="4765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rgbClr val="404040"/>
                </a:solidFill>
                <a:effectLst/>
                <a:latin typeface="Inter"/>
              </a:rPr>
              <a:t>System Modeling in MATLAB</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Model the EV battery management system as a discrete-time linear time-invariant (LTI) system.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Define system dynamics using matrices </a:t>
            </a:r>
            <a:r>
              <a:rPr kumimoji="0" lang="en-US" altLang="en-US" sz="1600" b="1" i="0" u="none" strike="noStrike" cap="none" normalizeH="0" baseline="0" dirty="0">
                <a:ln>
                  <a:noFill/>
                </a:ln>
                <a:solidFill>
                  <a:srgbClr val="404040"/>
                </a:solidFill>
                <a:effectLst/>
                <a:latin typeface="Inter"/>
              </a:rPr>
              <a:t>A</a:t>
            </a:r>
            <a:r>
              <a:rPr kumimoji="0" lang="en-US" altLang="en-US" sz="1600" b="0" i="0" u="none" strike="noStrike" cap="none" normalizeH="0" baseline="0" dirty="0">
                <a:ln>
                  <a:noFill/>
                </a:ln>
                <a:solidFill>
                  <a:srgbClr val="404040"/>
                </a:solidFill>
                <a:effectLst/>
                <a:latin typeface="Inter"/>
              </a:rPr>
              <a:t> and </a:t>
            </a:r>
            <a:r>
              <a:rPr kumimoji="0" lang="en-US" altLang="en-US" sz="1600" b="1" i="0" u="none" strike="noStrike" cap="none" normalizeH="0" baseline="0" dirty="0">
                <a:ln>
                  <a:noFill/>
                </a:ln>
                <a:solidFill>
                  <a:srgbClr val="404040"/>
                </a:solidFill>
                <a:effectLst/>
                <a:latin typeface="Inter"/>
              </a:rPr>
              <a:t>B</a:t>
            </a:r>
            <a:r>
              <a:rPr kumimoji="0" lang="en-US" altLang="en-US" sz="1600" b="0" i="0" u="none" strike="noStrike" cap="none" normalizeH="0" baseline="0" dirty="0">
                <a:ln>
                  <a:noFill/>
                </a:ln>
                <a:solidFill>
                  <a:srgbClr val="404040"/>
                </a:solidFill>
                <a:effectLst/>
                <a:latin typeface="Inter"/>
              </a:rPr>
              <a:t> and state/input constraints.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rgbClr val="404040"/>
                </a:solidFill>
                <a:effectLst/>
                <a:latin typeface="Inter"/>
              </a:rPr>
              <a:t>MPC Controller Design</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Construct an MPC controller with a prediction horizon </a:t>
            </a:r>
            <a:r>
              <a:rPr kumimoji="0" lang="en-US" altLang="en-US" sz="1600" b="1" i="0" u="none" strike="noStrike" cap="none" normalizeH="0" baseline="0" dirty="0">
                <a:ln>
                  <a:noFill/>
                </a:ln>
                <a:solidFill>
                  <a:srgbClr val="404040"/>
                </a:solidFill>
                <a:effectLst/>
                <a:latin typeface="Inter"/>
              </a:rPr>
              <a:t>N</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Define quadratic cost functions to balance control performance and energy efficiency.</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rgbClr val="404040"/>
                </a:solidFill>
                <a:effectLst/>
                <a:latin typeface="Inter"/>
              </a:rPr>
              <a:t>Convert MPC to Explicit MPC (EMPC)</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Transform the MPC controller into an explicit form using multi-parametric programming.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Partition the state space into polyhedral regions, each associated with a precomputed control law.</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rgbClr val="404040"/>
                </a:solidFill>
                <a:effectLst/>
                <a:latin typeface="Inter"/>
              </a:rPr>
              <a:t>Partition Critical Regions and Control Laws</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Define polyhedral regions and affine control laws for each region.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Store control laws in lookup tables (LUTs) for real-time evaluation.</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rgbClr val="404040"/>
                </a:solidFill>
                <a:effectLst/>
                <a:latin typeface="Inter"/>
              </a:rPr>
              <a:t>Implement Region Search in Verilog</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Use a sequential search algorithm to identify the appropriate region based on the system state.</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1" i="0" u="none" strike="noStrike" cap="none" normalizeH="0" baseline="0" dirty="0">
                <a:ln>
                  <a:noFill/>
                </a:ln>
                <a:solidFill>
                  <a:srgbClr val="404040"/>
                </a:solidFill>
                <a:effectLst/>
                <a:latin typeface="Inter"/>
              </a:rPr>
              <a:t>Control Action Generation in FPGA</a:t>
            </a:r>
            <a:r>
              <a:rPr kumimoji="0" lang="en-US" altLang="en-US" sz="1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Compute control actions in real-time using posit-based ALU.</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404040"/>
                </a:solidFill>
                <a:effectLst/>
                <a:latin typeface="Inter"/>
              </a:rPr>
              <a:t>Validate the control actions through hardware-in-the-loop (HIL) co-simulation.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1A968150-5C14-8AEF-A73C-96C1D0F20E43}"/>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6">
            <a:extLst>
              <a:ext uri="{FF2B5EF4-FFF2-40B4-BE49-F238E27FC236}">
                <a16:creationId xmlns:a16="http://schemas.microsoft.com/office/drawing/2014/main" id="{BF079972-5246-F0EC-82D5-894B0983E2AC}"/>
              </a:ext>
            </a:extLst>
          </p:cNvPr>
          <p:cNvSpPr>
            <a:spLocks noChangeArrowheads="1"/>
          </p:cNvSpPr>
          <p:nvPr/>
        </p:nvSpPr>
        <p:spPr bwMode="auto">
          <a:xfrm>
            <a:off x="0" y="15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942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4F362-4DF6-1C3C-9FAF-EB9A80555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6074E-733E-67D6-F32A-C1AF46012D9B}"/>
              </a:ext>
            </a:extLst>
          </p:cNvPr>
          <p:cNvSpPr>
            <a:spLocks noGrp="1"/>
          </p:cNvSpPr>
          <p:nvPr>
            <p:ph type="title"/>
          </p:nvPr>
        </p:nvSpPr>
        <p:spPr/>
        <p:txBody>
          <a:bodyPr/>
          <a:lstStyle/>
          <a:p>
            <a:pPr algn="ctr"/>
            <a:r>
              <a:rPr lang="en-IN" dirty="0"/>
              <a:t>Implementation Workflow</a:t>
            </a:r>
          </a:p>
        </p:txBody>
      </p:sp>
      <p:sp>
        <p:nvSpPr>
          <p:cNvPr id="7" name="Rectangle 4">
            <a:extLst>
              <a:ext uri="{FF2B5EF4-FFF2-40B4-BE49-F238E27FC236}">
                <a16:creationId xmlns:a16="http://schemas.microsoft.com/office/drawing/2014/main" id="{069AB1FE-071D-7D9F-D996-B82CC6679864}"/>
              </a:ext>
            </a:extLst>
          </p:cNvPr>
          <p:cNvSpPr>
            <a:spLocks noChangeArrowheads="1"/>
          </p:cNvSpPr>
          <p:nvPr/>
        </p:nvSpPr>
        <p:spPr bwMode="auto">
          <a:xfrm>
            <a:off x="1317523" y="3493721"/>
            <a:ext cx="9625780" cy="57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B5CA7133-AD24-16E8-DE14-2E4C404AB69E}"/>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6">
            <a:extLst>
              <a:ext uri="{FF2B5EF4-FFF2-40B4-BE49-F238E27FC236}">
                <a16:creationId xmlns:a16="http://schemas.microsoft.com/office/drawing/2014/main" id="{434C235D-FC41-60F5-2293-E77361ED7C54}"/>
              </a:ext>
            </a:extLst>
          </p:cNvPr>
          <p:cNvSpPr>
            <a:spLocks noChangeArrowheads="1"/>
          </p:cNvSpPr>
          <p:nvPr/>
        </p:nvSpPr>
        <p:spPr bwMode="auto">
          <a:xfrm>
            <a:off x="0" y="15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EA8ABA7D-DB46-0AFB-9843-4950A53D090D}"/>
              </a:ext>
            </a:extLst>
          </p:cNvPr>
          <p:cNvPicPr>
            <a:picLocks noChangeAspect="1"/>
          </p:cNvPicPr>
          <p:nvPr/>
        </p:nvPicPr>
        <p:blipFill>
          <a:blip r:embed="rId2"/>
          <a:stretch>
            <a:fillRect/>
          </a:stretch>
        </p:blipFill>
        <p:spPr>
          <a:xfrm>
            <a:off x="3517392" y="1531571"/>
            <a:ext cx="5157215" cy="4732704"/>
          </a:xfrm>
          <a:prstGeom prst="rect">
            <a:avLst/>
          </a:prstGeom>
        </p:spPr>
      </p:pic>
    </p:spTree>
    <p:extLst>
      <p:ext uri="{BB962C8B-B14F-4D97-AF65-F5344CB8AC3E}">
        <p14:creationId xmlns:p14="http://schemas.microsoft.com/office/powerpoint/2010/main" val="1901448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55232-FEA6-6EE2-73A8-1EAC83E5BB85}"/>
              </a:ext>
            </a:extLst>
          </p:cNvPr>
          <p:cNvSpPr>
            <a:spLocks noGrp="1"/>
          </p:cNvSpPr>
          <p:nvPr>
            <p:ph type="ctrTitle"/>
          </p:nvPr>
        </p:nvSpPr>
        <p:spPr>
          <a:xfrm>
            <a:off x="1524000" y="491614"/>
            <a:ext cx="9144000" cy="776748"/>
          </a:xfrm>
        </p:spPr>
        <p:txBody>
          <a:bodyPr>
            <a:normAutofit fontScale="90000"/>
          </a:bodyPr>
          <a:lstStyle/>
          <a:p>
            <a:r>
              <a:rPr lang="en-IN" dirty="0"/>
              <a:t>Theory:-Posit number system</a:t>
            </a:r>
          </a:p>
        </p:txBody>
      </p:sp>
      <p:sp>
        <p:nvSpPr>
          <p:cNvPr id="3" name="Subtitle 2">
            <a:extLst>
              <a:ext uri="{FF2B5EF4-FFF2-40B4-BE49-F238E27FC236}">
                <a16:creationId xmlns:a16="http://schemas.microsoft.com/office/drawing/2014/main" id="{69912E28-6745-7D0B-EF43-88D31453DA70}"/>
              </a:ext>
            </a:extLst>
          </p:cNvPr>
          <p:cNvSpPr>
            <a:spLocks noGrp="1"/>
          </p:cNvSpPr>
          <p:nvPr>
            <p:ph type="subTitle" idx="1"/>
          </p:nvPr>
        </p:nvSpPr>
        <p:spPr>
          <a:xfrm>
            <a:off x="1268361" y="1406014"/>
            <a:ext cx="9497962" cy="5368412"/>
          </a:xfrm>
        </p:spPr>
        <p:txBody>
          <a:bodyPr>
            <a:normAutofit/>
          </a:bodyPr>
          <a:lstStyle/>
          <a:p>
            <a:pPr algn="l">
              <a:spcBef>
                <a:spcPts val="300"/>
              </a:spcBef>
              <a:spcAft>
                <a:spcPts val="300"/>
              </a:spcAft>
            </a:pPr>
            <a:r>
              <a:rPr lang="en-US" b="1" i="0" dirty="0">
                <a:solidFill>
                  <a:srgbClr val="404040"/>
                </a:solidFill>
                <a:effectLst/>
                <a:latin typeface="Inter"/>
              </a:rPr>
              <a:t>Posit Number Format</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Posit numbers use a </a:t>
            </a:r>
            <a:r>
              <a:rPr lang="en-US" b="1" i="0" dirty="0">
                <a:solidFill>
                  <a:srgbClr val="404040"/>
                </a:solidFill>
                <a:effectLst/>
                <a:latin typeface="Inter"/>
              </a:rPr>
              <a:t>dynamic regime field</a:t>
            </a:r>
            <a:r>
              <a:rPr lang="en-US" b="0" i="0" dirty="0">
                <a:solidFill>
                  <a:srgbClr val="404040"/>
                </a:solidFill>
                <a:effectLst/>
                <a:latin typeface="Inter"/>
              </a:rPr>
              <a:t> that allows the bit allocation between the exponent and fraction to vary based on the magnitude of the number.</a:t>
            </a:r>
          </a:p>
          <a:p>
            <a:pPr lvl="1" algn="l">
              <a:spcBef>
                <a:spcPts val="300"/>
              </a:spcBef>
            </a:pPr>
            <a:endParaRPr lang="en-US" b="0" i="0" dirty="0">
              <a:solidFill>
                <a:srgbClr val="404040"/>
              </a:solidFill>
              <a:effectLst/>
              <a:latin typeface="Inter"/>
            </a:endParaRPr>
          </a:p>
          <a:p>
            <a:pPr marL="742950" lvl="1" indent="-285750" algn="l">
              <a:spcBef>
                <a:spcPts val="300"/>
              </a:spcBef>
              <a:spcAft>
                <a:spcPts val="300"/>
              </a:spcAft>
              <a:buFont typeface="Arial" panose="020B0604020202020204" pitchFamily="34" charset="0"/>
              <a:buChar char="•"/>
            </a:pPr>
            <a:r>
              <a:rPr lang="en-US" b="1" i="0" dirty="0">
                <a:solidFill>
                  <a:srgbClr val="404040"/>
                </a:solidFill>
                <a:effectLst/>
                <a:latin typeface="Inter"/>
              </a:rPr>
              <a:t>Four Sub-Fields</a:t>
            </a:r>
            <a:r>
              <a:rPr lang="en-US"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b="1" i="0" dirty="0">
                <a:solidFill>
                  <a:srgbClr val="404040"/>
                </a:solidFill>
                <a:effectLst/>
                <a:latin typeface="Inter"/>
              </a:rPr>
              <a:t>Sign (s)</a:t>
            </a:r>
            <a:r>
              <a:rPr lang="en-US" b="0" i="0" dirty="0">
                <a:solidFill>
                  <a:srgbClr val="404040"/>
                </a:solidFill>
                <a:effectLst/>
                <a:latin typeface="Inter"/>
              </a:rPr>
              <a:t>: 1 bit to indicate positive or negative.</a:t>
            </a:r>
          </a:p>
          <a:p>
            <a:pPr marL="1143000" lvl="2" indent="-228600" algn="l">
              <a:spcBef>
                <a:spcPts val="300"/>
              </a:spcBef>
              <a:buFont typeface="Arial" panose="020B0604020202020204" pitchFamily="34" charset="0"/>
              <a:buChar char="•"/>
            </a:pPr>
            <a:r>
              <a:rPr lang="en-US" b="1" i="0" dirty="0">
                <a:solidFill>
                  <a:srgbClr val="404040"/>
                </a:solidFill>
                <a:effectLst/>
                <a:latin typeface="Inter"/>
              </a:rPr>
              <a:t>Regime (r)</a:t>
            </a:r>
            <a:r>
              <a:rPr lang="en-US" b="0" i="0" dirty="0">
                <a:solidFill>
                  <a:srgbClr val="404040"/>
                </a:solidFill>
                <a:effectLst/>
                <a:latin typeface="Inter"/>
              </a:rPr>
              <a:t>: A variable-length field that determines the scale of the number. It consists of consecutive 1s or 0s, terminated by the opposite bit or the end of the posit.</a:t>
            </a:r>
          </a:p>
          <a:p>
            <a:pPr marL="1143000" lvl="2" indent="-228600" algn="l">
              <a:spcBef>
                <a:spcPts val="300"/>
              </a:spcBef>
              <a:buFont typeface="Arial" panose="020B0604020202020204" pitchFamily="34" charset="0"/>
              <a:buChar char="•"/>
            </a:pPr>
            <a:r>
              <a:rPr lang="en-US" b="1" i="0" dirty="0">
                <a:solidFill>
                  <a:srgbClr val="404040"/>
                </a:solidFill>
                <a:effectLst/>
                <a:latin typeface="Inter"/>
              </a:rPr>
              <a:t>Exponent (e)</a:t>
            </a:r>
            <a:r>
              <a:rPr lang="en-US" b="0" i="0" dirty="0">
                <a:solidFill>
                  <a:srgbClr val="404040"/>
                </a:solidFill>
                <a:effectLst/>
                <a:latin typeface="Inter"/>
              </a:rPr>
              <a:t>: A fixed-length field that provides additional scaling within the regime.</a:t>
            </a:r>
          </a:p>
          <a:p>
            <a:pPr marL="1143000" lvl="2" indent="-228600" algn="l">
              <a:spcBef>
                <a:spcPts val="300"/>
              </a:spcBef>
              <a:buFont typeface="Arial" panose="020B0604020202020204" pitchFamily="34" charset="0"/>
              <a:buChar char="•"/>
            </a:pPr>
            <a:r>
              <a:rPr lang="en-US" b="1" i="0" dirty="0">
                <a:solidFill>
                  <a:srgbClr val="404040"/>
                </a:solidFill>
                <a:effectLst/>
                <a:latin typeface="Inter"/>
              </a:rPr>
              <a:t>Fraction (f)</a:t>
            </a:r>
            <a:r>
              <a:rPr lang="en-US" b="0" i="0" dirty="0">
                <a:solidFill>
                  <a:srgbClr val="404040"/>
                </a:solidFill>
                <a:effectLst/>
                <a:latin typeface="Inter"/>
              </a:rPr>
              <a:t>: The remaining bits represent the fractional part of the number.</a:t>
            </a:r>
          </a:p>
          <a:p>
            <a:pPr lvl="4" algn="l">
              <a:spcAft>
                <a:spcPts val="300"/>
              </a:spcAft>
              <a:buFont typeface="Arial" panose="020B0604020202020204" pitchFamily="34" charset="0"/>
              <a:buChar char="•"/>
            </a:pPr>
            <a:endParaRPr lang="en-IN" dirty="0"/>
          </a:p>
        </p:txBody>
      </p:sp>
      <p:pic>
        <p:nvPicPr>
          <p:cNvPr id="4" name="Picture 3">
            <a:extLst>
              <a:ext uri="{FF2B5EF4-FFF2-40B4-BE49-F238E27FC236}">
                <a16:creationId xmlns:a16="http://schemas.microsoft.com/office/drawing/2014/main" id="{E40C701B-3005-4EFE-631F-FEB4A6C38285}"/>
              </a:ext>
            </a:extLst>
          </p:cNvPr>
          <p:cNvPicPr>
            <a:picLocks noChangeAspect="1"/>
          </p:cNvPicPr>
          <p:nvPr/>
        </p:nvPicPr>
        <p:blipFill>
          <a:blip r:embed="rId2"/>
          <a:stretch>
            <a:fillRect/>
          </a:stretch>
        </p:blipFill>
        <p:spPr>
          <a:xfrm>
            <a:off x="3543617" y="4661411"/>
            <a:ext cx="5104765" cy="1581150"/>
          </a:xfrm>
          <a:prstGeom prst="rect">
            <a:avLst/>
          </a:prstGeom>
        </p:spPr>
      </p:pic>
    </p:spTree>
    <p:extLst>
      <p:ext uri="{BB962C8B-B14F-4D97-AF65-F5344CB8AC3E}">
        <p14:creationId xmlns:p14="http://schemas.microsoft.com/office/powerpoint/2010/main" val="1330646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54328-DB04-7242-8A4E-96BCC6B75BF0}"/>
              </a:ext>
            </a:extLst>
          </p:cNvPr>
          <p:cNvSpPr>
            <a:spLocks noGrp="1"/>
          </p:cNvSpPr>
          <p:nvPr>
            <p:ph type="ctrTitle"/>
          </p:nvPr>
        </p:nvSpPr>
        <p:spPr>
          <a:xfrm>
            <a:off x="1524000" y="580103"/>
            <a:ext cx="9144000" cy="1020097"/>
          </a:xfrm>
        </p:spPr>
        <p:txBody>
          <a:bodyPr>
            <a:normAutofit fontScale="90000"/>
          </a:bodyPr>
          <a:lstStyle/>
          <a:p>
            <a:r>
              <a:rPr lang="en-IN" dirty="0"/>
              <a:t>Theory:-Posit number system</a:t>
            </a:r>
          </a:p>
        </p:txBody>
      </p:sp>
      <p:sp>
        <p:nvSpPr>
          <p:cNvPr id="3" name="Subtitle 2">
            <a:extLst>
              <a:ext uri="{FF2B5EF4-FFF2-40B4-BE49-F238E27FC236}">
                <a16:creationId xmlns:a16="http://schemas.microsoft.com/office/drawing/2014/main" id="{9CBE9130-300C-131B-79FF-4FCE808D30E4}"/>
              </a:ext>
            </a:extLst>
          </p:cNvPr>
          <p:cNvSpPr>
            <a:spLocks noGrp="1"/>
          </p:cNvSpPr>
          <p:nvPr>
            <p:ph type="subTitle" idx="1"/>
          </p:nvPr>
        </p:nvSpPr>
        <p:spPr>
          <a:xfrm>
            <a:off x="1524000" y="1838632"/>
            <a:ext cx="9144000" cy="4090220"/>
          </a:xfrm>
        </p:spPr>
        <p:txBody>
          <a:bodyPr>
            <a:normAutofit fontScale="92500" lnSpcReduction="10000"/>
          </a:bodyPr>
          <a:lstStyle/>
          <a:p>
            <a:pPr algn="l">
              <a:buNone/>
            </a:pPr>
            <a:r>
              <a:rPr lang="en-US" b="1" i="0" dirty="0">
                <a:solidFill>
                  <a:srgbClr val="404040"/>
                </a:solidFill>
                <a:effectLst/>
                <a:latin typeface="Inter"/>
              </a:rPr>
              <a:t>Advantages of Posit</a:t>
            </a:r>
          </a:p>
          <a:p>
            <a:pPr algn="l">
              <a:spcAft>
                <a:spcPts val="300"/>
              </a:spcAft>
              <a:buFont typeface="Arial" panose="020B0604020202020204" pitchFamily="34" charset="0"/>
              <a:buChar char="•"/>
            </a:pPr>
            <a:r>
              <a:rPr lang="en-US" b="1" i="0" dirty="0">
                <a:solidFill>
                  <a:srgbClr val="404040"/>
                </a:solidFill>
                <a:effectLst/>
                <a:latin typeface="Inter"/>
              </a:rPr>
              <a:t>Higher Accuracy</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Posits allocate more bits to the fraction for smaller numbers and more bits to the exponent for larger numbers. This ensures higher precision across a wide range of values.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Unlike IEEE 754, posits do not waste bits on special cases like </a:t>
            </a:r>
            <a:r>
              <a:rPr lang="en-US" b="0" i="0" dirty="0" err="1">
                <a:solidFill>
                  <a:srgbClr val="404040"/>
                </a:solidFill>
                <a:effectLst/>
                <a:latin typeface="Inter"/>
              </a:rPr>
              <a:t>NaN</a:t>
            </a:r>
            <a:r>
              <a:rPr lang="en-US" b="0" i="0" dirty="0">
                <a:solidFill>
                  <a:srgbClr val="404040"/>
                </a:solidFill>
                <a:effectLst/>
                <a:latin typeface="Inter"/>
              </a:rPr>
              <a:t> or infinity.</a:t>
            </a:r>
          </a:p>
          <a:p>
            <a:pPr lvl="1" algn="l">
              <a:spcBef>
                <a:spcPts val="300"/>
              </a:spcBef>
            </a:pPr>
            <a:r>
              <a:rPr lang="en-US" dirty="0">
                <a:solidFill>
                  <a:srgbClr val="404040"/>
                </a:solidFill>
                <a:latin typeface="Inter"/>
              </a:rPr>
              <a:t>     So they</a:t>
            </a:r>
            <a:r>
              <a:rPr lang="en-US" b="0" i="0" dirty="0">
                <a:solidFill>
                  <a:srgbClr val="404040"/>
                </a:solidFill>
                <a:effectLst/>
                <a:latin typeface="Inter"/>
              </a:rPr>
              <a:t> allow more bits to be used for meaningful data.</a:t>
            </a:r>
          </a:p>
          <a:p>
            <a:pPr lvl="1" algn="l">
              <a:spcBef>
                <a:spcPts val="300"/>
              </a:spcBef>
            </a:pPr>
            <a:endParaRPr lang="en-US" b="0" i="0" dirty="0">
              <a:solidFill>
                <a:srgbClr val="404040"/>
              </a:solidFill>
              <a:effectLst/>
              <a:latin typeface="Inter"/>
            </a:endParaRP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Simpler Hardware Implementation</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Posits do not require hardware for handling exceptions like </a:t>
            </a:r>
            <a:r>
              <a:rPr lang="en-US" b="0" i="0" dirty="0" err="1">
                <a:solidFill>
                  <a:srgbClr val="404040"/>
                </a:solidFill>
                <a:effectLst/>
                <a:latin typeface="Inter"/>
              </a:rPr>
              <a:t>NaN</a:t>
            </a:r>
            <a:r>
              <a:rPr lang="en-US" b="0" i="0" dirty="0">
                <a:solidFill>
                  <a:srgbClr val="404040"/>
                </a:solidFill>
                <a:effectLst/>
                <a:latin typeface="Inter"/>
              </a:rPr>
              <a:t>, infinity, or denormalized numbers, so ALU doesn’t need to handle these edge cases ; this reduces the complexity.</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The two's complement negation used in posits simplifies arithmetic operations compared to the sign-magnitude representation in IEEE 754.</a:t>
            </a:r>
          </a:p>
          <a:p>
            <a:endParaRPr lang="en-IN" dirty="0"/>
          </a:p>
        </p:txBody>
      </p:sp>
    </p:spTree>
    <p:extLst>
      <p:ext uri="{BB962C8B-B14F-4D97-AF65-F5344CB8AC3E}">
        <p14:creationId xmlns:p14="http://schemas.microsoft.com/office/powerpoint/2010/main" val="2910254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AC3BF-012F-2E72-1657-523F79B28983}"/>
              </a:ext>
            </a:extLst>
          </p:cNvPr>
          <p:cNvSpPr>
            <a:spLocks noGrp="1"/>
          </p:cNvSpPr>
          <p:nvPr>
            <p:ph type="ctrTitle"/>
          </p:nvPr>
        </p:nvSpPr>
        <p:spPr>
          <a:xfrm>
            <a:off x="1524000" y="530943"/>
            <a:ext cx="9144000" cy="462115"/>
          </a:xfrm>
        </p:spPr>
        <p:txBody>
          <a:bodyPr>
            <a:normAutofit fontScale="90000"/>
          </a:bodyPr>
          <a:lstStyle/>
          <a:p>
            <a:r>
              <a:rPr lang="en-IN" sz="5400" dirty="0"/>
              <a:t>POSIT ALU implementation</a:t>
            </a:r>
          </a:p>
        </p:txBody>
      </p:sp>
      <p:sp>
        <p:nvSpPr>
          <p:cNvPr id="3" name="Subtitle 2">
            <a:extLst>
              <a:ext uri="{FF2B5EF4-FFF2-40B4-BE49-F238E27FC236}">
                <a16:creationId xmlns:a16="http://schemas.microsoft.com/office/drawing/2014/main" id="{003948DA-04C6-45FA-EFB9-E05CFC0B5E00}"/>
              </a:ext>
            </a:extLst>
          </p:cNvPr>
          <p:cNvSpPr>
            <a:spLocks noGrp="1"/>
          </p:cNvSpPr>
          <p:nvPr>
            <p:ph type="subTitle" idx="1"/>
          </p:nvPr>
        </p:nvSpPr>
        <p:spPr>
          <a:xfrm>
            <a:off x="1524000" y="993058"/>
            <a:ext cx="9144000" cy="5594555"/>
          </a:xfrm>
        </p:spPr>
        <p:txBody>
          <a:bodyPr>
            <a:normAutofit fontScale="47500" lnSpcReduction="20000"/>
          </a:bodyPr>
          <a:lstStyle/>
          <a:p>
            <a:pPr algn="l">
              <a:buNone/>
            </a:pPr>
            <a:r>
              <a:rPr lang="en-US" sz="3300" b="1" i="0" dirty="0">
                <a:solidFill>
                  <a:srgbClr val="404040"/>
                </a:solidFill>
                <a:effectLst/>
                <a:latin typeface="Inter"/>
              </a:rPr>
              <a:t>Posit Addition/Subtraction</a:t>
            </a:r>
          </a:p>
          <a:p>
            <a:pPr algn="l">
              <a:spcAft>
                <a:spcPts val="300"/>
              </a:spcAft>
              <a:buFont typeface="Arial" panose="020B0604020202020204" pitchFamily="34" charset="0"/>
              <a:buChar char="•"/>
            </a:pPr>
            <a:r>
              <a:rPr lang="en-US" sz="3300" b="1" i="0" dirty="0">
                <a:solidFill>
                  <a:srgbClr val="404040"/>
                </a:solidFill>
                <a:effectLst/>
                <a:latin typeface="Inter"/>
              </a:rPr>
              <a:t>Overview</a:t>
            </a:r>
            <a:r>
              <a:rPr lang="en-US" sz="33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900" b="0" i="0" dirty="0">
                <a:solidFill>
                  <a:srgbClr val="404040"/>
                </a:solidFill>
                <a:effectLst/>
                <a:latin typeface="Inter"/>
              </a:rPr>
              <a:t>Posit addition and subtraction are fundamental operations in the posit arithmetic unit (ALU). These operations are more efficient than their IEEE 754 counterparts due to the dynamic regime field and simpler exception handling.</a:t>
            </a:r>
          </a:p>
          <a:p>
            <a:pPr algn="l">
              <a:spcBef>
                <a:spcPts val="300"/>
              </a:spcBef>
              <a:spcAft>
                <a:spcPts val="300"/>
              </a:spcAft>
              <a:buFont typeface="Arial" panose="020B0604020202020204" pitchFamily="34" charset="0"/>
              <a:buChar char="•"/>
            </a:pPr>
            <a:r>
              <a:rPr lang="en-US" sz="3300" b="1" i="0" dirty="0">
                <a:solidFill>
                  <a:srgbClr val="404040"/>
                </a:solidFill>
                <a:effectLst/>
                <a:latin typeface="Inter"/>
              </a:rPr>
              <a:t>Steps</a:t>
            </a:r>
            <a:r>
              <a:rPr lang="en-US" sz="3300" b="0" i="0" dirty="0">
                <a:solidFill>
                  <a:srgbClr val="404040"/>
                </a:solidFill>
                <a:effectLst/>
                <a:latin typeface="Inter"/>
              </a:rPr>
              <a:t>:</a:t>
            </a:r>
          </a:p>
          <a:p>
            <a:pPr marL="742950" lvl="1" indent="-285750" algn="l">
              <a:spcBef>
                <a:spcPts val="300"/>
              </a:spcBef>
              <a:spcAft>
                <a:spcPts val="300"/>
              </a:spcAft>
              <a:buFont typeface="Arial" panose="020B0604020202020204" pitchFamily="34" charset="0"/>
              <a:buChar char="•"/>
            </a:pPr>
            <a:r>
              <a:rPr lang="en-US" sz="2900" b="1" i="0" dirty="0">
                <a:solidFill>
                  <a:srgbClr val="404040"/>
                </a:solidFill>
                <a:effectLst/>
                <a:latin typeface="Inter"/>
              </a:rPr>
              <a:t>Decompose Posit Numbers</a:t>
            </a:r>
            <a:r>
              <a:rPr lang="en-US" sz="2900"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Break down the input posit numbers (</a:t>
            </a:r>
            <a:r>
              <a:rPr lang="en-US" sz="2500" b="1" i="0" dirty="0">
                <a:solidFill>
                  <a:srgbClr val="404040"/>
                </a:solidFill>
                <a:effectLst/>
                <a:latin typeface="Inter"/>
              </a:rPr>
              <a:t>X</a:t>
            </a:r>
            <a:r>
              <a:rPr lang="en-US" sz="2500" b="0" i="0" dirty="0">
                <a:solidFill>
                  <a:srgbClr val="404040"/>
                </a:solidFill>
                <a:effectLst/>
                <a:latin typeface="Inter"/>
              </a:rPr>
              <a:t> and </a:t>
            </a:r>
            <a:r>
              <a:rPr lang="en-US" sz="2500" b="1" i="0" dirty="0">
                <a:solidFill>
                  <a:srgbClr val="404040"/>
                </a:solidFill>
                <a:effectLst/>
                <a:latin typeface="Inter"/>
              </a:rPr>
              <a:t>Y</a:t>
            </a:r>
            <a:r>
              <a:rPr lang="en-US" sz="2500" b="0" i="0" dirty="0">
                <a:solidFill>
                  <a:srgbClr val="404040"/>
                </a:solidFill>
                <a:effectLst/>
                <a:latin typeface="Inter"/>
              </a:rPr>
              <a:t>) into their components: </a:t>
            </a:r>
            <a:r>
              <a:rPr lang="en-US" sz="2500" b="1" i="0" dirty="0">
                <a:solidFill>
                  <a:srgbClr val="404040"/>
                </a:solidFill>
                <a:effectLst/>
                <a:latin typeface="Inter"/>
              </a:rPr>
              <a:t>sign (s)</a:t>
            </a:r>
            <a:r>
              <a:rPr lang="en-US" sz="2500" b="0" i="0" dirty="0">
                <a:solidFill>
                  <a:srgbClr val="404040"/>
                </a:solidFill>
                <a:effectLst/>
                <a:latin typeface="Inter"/>
              </a:rPr>
              <a:t>, </a:t>
            </a:r>
            <a:r>
              <a:rPr lang="en-US" sz="2500" b="1" i="0" dirty="0">
                <a:solidFill>
                  <a:srgbClr val="404040"/>
                </a:solidFill>
                <a:effectLst/>
                <a:latin typeface="Inter"/>
              </a:rPr>
              <a:t>regime (r)</a:t>
            </a:r>
            <a:r>
              <a:rPr lang="en-US" sz="2500" b="0" i="0" dirty="0">
                <a:solidFill>
                  <a:srgbClr val="404040"/>
                </a:solidFill>
                <a:effectLst/>
                <a:latin typeface="Inter"/>
              </a:rPr>
              <a:t>, </a:t>
            </a:r>
            <a:r>
              <a:rPr lang="en-US" sz="2500" b="1" i="0" dirty="0">
                <a:solidFill>
                  <a:srgbClr val="404040"/>
                </a:solidFill>
                <a:effectLst/>
                <a:latin typeface="Inter"/>
              </a:rPr>
              <a:t>exponent (e)</a:t>
            </a:r>
            <a:r>
              <a:rPr lang="en-US" sz="2500" b="0" i="0" dirty="0">
                <a:solidFill>
                  <a:srgbClr val="404040"/>
                </a:solidFill>
                <a:effectLst/>
                <a:latin typeface="Inter"/>
              </a:rPr>
              <a:t>, and </a:t>
            </a:r>
            <a:r>
              <a:rPr lang="en-US" sz="2500" b="1" i="0" dirty="0">
                <a:solidFill>
                  <a:srgbClr val="404040"/>
                </a:solidFill>
                <a:effectLst/>
                <a:latin typeface="Inter"/>
              </a:rPr>
              <a:t>fraction (f)</a:t>
            </a:r>
            <a:r>
              <a:rPr lang="en-US" sz="2500"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The sign bit indicates whether the number is positive or negative.</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The regime field determines the scale of the number.</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The exponent provides additional scaling within the regime.</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The fraction represents the fractional part of the number.</a:t>
            </a:r>
          </a:p>
          <a:p>
            <a:pPr marL="742950" lvl="1" indent="-285750" algn="l">
              <a:spcBef>
                <a:spcPts val="300"/>
              </a:spcBef>
              <a:spcAft>
                <a:spcPts val="300"/>
              </a:spcAft>
              <a:buFont typeface="Arial" panose="020B0604020202020204" pitchFamily="34" charset="0"/>
              <a:buChar char="•"/>
            </a:pPr>
            <a:r>
              <a:rPr lang="en-US" sz="2900" b="1" i="0" dirty="0">
                <a:solidFill>
                  <a:srgbClr val="404040"/>
                </a:solidFill>
                <a:effectLst/>
                <a:latin typeface="Inter"/>
              </a:rPr>
              <a:t>Align Fractions</a:t>
            </a:r>
            <a:r>
              <a:rPr lang="en-US" sz="2900"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Compare the exponents of </a:t>
            </a:r>
            <a:r>
              <a:rPr lang="en-US" sz="2500" b="1" i="0" dirty="0">
                <a:solidFill>
                  <a:srgbClr val="404040"/>
                </a:solidFill>
                <a:effectLst/>
                <a:latin typeface="Inter"/>
              </a:rPr>
              <a:t>X</a:t>
            </a:r>
            <a:r>
              <a:rPr lang="en-US" sz="2500" b="0" i="0" dirty="0">
                <a:solidFill>
                  <a:srgbClr val="404040"/>
                </a:solidFill>
                <a:effectLst/>
                <a:latin typeface="Inter"/>
              </a:rPr>
              <a:t> and </a:t>
            </a:r>
            <a:r>
              <a:rPr lang="en-US" sz="2500" b="1" i="0" dirty="0">
                <a:solidFill>
                  <a:srgbClr val="404040"/>
                </a:solidFill>
                <a:effectLst/>
                <a:latin typeface="Inter"/>
              </a:rPr>
              <a:t>Y</a:t>
            </a:r>
            <a:r>
              <a:rPr lang="en-US" sz="2500" b="0" i="0" dirty="0">
                <a:solidFill>
                  <a:srgbClr val="404040"/>
                </a:solidFill>
                <a:effectLst/>
                <a:latin typeface="Inter"/>
              </a:rPr>
              <a:t> to determine the difference (</a:t>
            </a:r>
            <a:r>
              <a:rPr lang="en-US" sz="2500" b="1" i="0" dirty="0" err="1">
                <a:solidFill>
                  <a:srgbClr val="404040"/>
                </a:solidFill>
                <a:effectLst/>
                <a:latin typeface="Inter"/>
              </a:rPr>
              <a:t>E_diff</a:t>
            </a:r>
            <a:r>
              <a:rPr lang="en-US" sz="2500"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Shift the fraction of the smaller number to align it with the larger number's exponent.</a:t>
            </a:r>
          </a:p>
          <a:p>
            <a:pPr marL="742950" lvl="1" indent="-285750" algn="l">
              <a:spcBef>
                <a:spcPts val="300"/>
              </a:spcBef>
              <a:spcAft>
                <a:spcPts val="300"/>
              </a:spcAft>
              <a:buFont typeface="Arial" panose="020B0604020202020204" pitchFamily="34" charset="0"/>
              <a:buChar char="•"/>
            </a:pPr>
            <a:r>
              <a:rPr lang="en-US" sz="2900" b="1" i="0" dirty="0">
                <a:solidFill>
                  <a:srgbClr val="404040"/>
                </a:solidFill>
                <a:effectLst/>
                <a:latin typeface="Inter"/>
              </a:rPr>
              <a:t>Perform Arithmetic</a:t>
            </a:r>
            <a:r>
              <a:rPr lang="en-US" sz="2900"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Add or subtract the aligned fractions based on the sign bits.</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If the sign bits are the same, perform addition.</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If the sign bits differ, perform subtraction.</a:t>
            </a:r>
          </a:p>
          <a:p>
            <a:pPr marL="742950" lvl="1" indent="-285750" algn="l">
              <a:spcBef>
                <a:spcPts val="300"/>
              </a:spcBef>
              <a:spcAft>
                <a:spcPts val="300"/>
              </a:spcAft>
              <a:buFont typeface="Arial" panose="020B0604020202020204" pitchFamily="34" charset="0"/>
              <a:buChar char="•"/>
            </a:pPr>
            <a:r>
              <a:rPr lang="en-US" sz="2900" b="1" i="0" dirty="0">
                <a:solidFill>
                  <a:srgbClr val="404040"/>
                </a:solidFill>
                <a:effectLst/>
                <a:latin typeface="Inter"/>
              </a:rPr>
              <a:t>Normalize the Result</a:t>
            </a:r>
            <a:r>
              <a:rPr lang="en-US" sz="2900"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If the result of the addition or subtraction produces an overflow (carry bit), shift the fraction right and adjust the exponent.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If subtraction produces leading zeros, shift the fraction left and adjust the exponent.</a:t>
            </a:r>
          </a:p>
          <a:p>
            <a:pPr marL="742950" lvl="1" indent="-285750" algn="l">
              <a:spcBef>
                <a:spcPts val="300"/>
              </a:spcBef>
              <a:spcAft>
                <a:spcPts val="300"/>
              </a:spcAft>
              <a:buFont typeface="Arial" panose="020B0604020202020204" pitchFamily="34" charset="0"/>
              <a:buChar char="•"/>
            </a:pPr>
            <a:r>
              <a:rPr lang="en-US" sz="2900" b="1" i="0" dirty="0">
                <a:solidFill>
                  <a:srgbClr val="404040"/>
                </a:solidFill>
                <a:effectLst/>
                <a:latin typeface="Inter"/>
              </a:rPr>
              <a:t>Reconstruct the Posit</a:t>
            </a:r>
            <a:r>
              <a:rPr lang="en-US" sz="2900"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sz="2500" b="0" i="0" dirty="0">
                <a:solidFill>
                  <a:srgbClr val="404040"/>
                </a:solidFill>
                <a:effectLst/>
                <a:latin typeface="Inter"/>
              </a:rPr>
              <a:t>Combine the sign, regime, exponent, and normalized fraction to form the final posit result.</a:t>
            </a:r>
          </a:p>
          <a:p>
            <a:pPr algn="l">
              <a:spcBef>
                <a:spcPts val="300"/>
              </a:spcBef>
              <a:spcAft>
                <a:spcPts val="300"/>
              </a:spcAft>
            </a:pPr>
            <a:r>
              <a:rPr lang="en-US" sz="3300" b="1" i="0" dirty="0">
                <a:solidFill>
                  <a:srgbClr val="404040"/>
                </a:solidFill>
                <a:effectLst/>
                <a:latin typeface="Inter"/>
              </a:rPr>
              <a:t>Advantages</a:t>
            </a:r>
            <a:r>
              <a:rPr lang="en-US" sz="33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900" b="0" i="0" dirty="0">
                <a:solidFill>
                  <a:srgbClr val="404040"/>
                </a:solidFill>
                <a:effectLst/>
                <a:latin typeface="Inter"/>
              </a:rPr>
              <a:t>Posit addition/subtraction avoids overflow and underflow, ensuring robust performance.</a:t>
            </a:r>
          </a:p>
          <a:p>
            <a:pPr marL="742950" lvl="1" indent="-285750" algn="l">
              <a:spcBef>
                <a:spcPts val="300"/>
              </a:spcBef>
              <a:buFont typeface="Arial" panose="020B0604020202020204" pitchFamily="34" charset="0"/>
              <a:buChar char="•"/>
            </a:pPr>
            <a:r>
              <a:rPr lang="en-US" sz="2900" b="0" i="0" dirty="0">
                <a:solidFill>
                  <a:srgbClr val="404040"/>
                </a:solidFill>
                <a:effectLst/>
                <a:latin typeface="Inter"/>
              </a:rPr>
              <a:t>The dynamic regime field allows for high precision and range with fewer bits.</a:t>
            </a:r>
          </a:p>
          <a:p>
            <a:endParaRPr lang="en-IN" dirty="0"/>
          </a:p>
        </p:txBody>
      </p:sp>
    </p:spTree>
    <p:extLst>
      <p:ext uri="{BB962C8B-B14F-4D97-AF65-F5344CB8AC3E}">
        <p14:creationId xmlns:p14="http://schemas.microsoft.com/office/powerpoint/2010/main" val="1696234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AF791-1376-7852-7B7F-0E866F27F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D7ADF-6317-658F-BC46-3F5E233768AE}"/>
              </a:ext>
            </a:extLst>
          </p:cNvPr>
          <p:cNvSpPr>
            <a:spLocks noGrp="1"/>
          </p:cNvSpPr>
          <p:nvPr>
            <p:ph type="ctrTitle"/>
          </p:nvPr>
        </p:nvSpPr>
        <p:spPr>
          <a:xfrm>
            <a:off x="1524000" y="530943"/>
            <a:ext cx="9144000" cy="462115"/>
          </a:xfrm>
        </p:spPr>
        <p:txBody>
          <a:bodyPr>
            <a:normAutofit fontScale="90000"/>
          </a:bodyPr>
          <a:lstStyle/>
          <a:p>
            <a:r>
              <a:rPr lang="en-IN" sz="5400" dirty="0"/>
              <a:t>POSIT ALU implementation</a:t>
            </a:r>
          </a:p>
        </p:txBody>
      </p:sp>
      <p:sp>
        <p:nvSpPr>
          <p:cNvPr id="3" name="Subtitle 2">
            <a:extLst>
              <a:ext uri="{FF2B5EF4-FFF2-40B4-BE49-F238E27FC236}">
                <a16:creationId xmlns:a16="http://schemas.microsoft.com/office/drawing/2014/main" id="{D0FD8DC1-02B5-E50A-78BB-B72CBC866CF9}"/>
              </a:ext>
            </a:extLst>
          </p:cNvPr>
          <p:cNvSpPr>
            <a:spLocks noGrp="1"/>
          </p:cNvSpPr>
          <p:nvPr>
            <p:ph type="subTitle" idx="1"/>
          </p:nvPr>
        </p:nvSpPr>
        <p:spPr>
          <a:xfrm>
            <a:off x="1524000" y="993058"/>
            <a:ext cx="9144000" cy="5594555"/>
          </a:xfrm>
        </p:spPr>
        <p:txBody>
          <a:bodyPr>
            <a:normAutofit/>
          </a:bodyPr>
          <a:lstStyle/>
          <a:p>
            <a:endParaRPr lang="en-IN" dirty="0"/>
          </a:p>
          <a:p>
            <a:r>
              <a:rPr lang="en-IN" dirty="0"/>
              <a:t>Posit Addition/Subtraction Flowchart</a:t>
            </a:r>
          </a:p>
        </p:txBody>
      </p:sp>
      <p:pic>
        <p:nvPicPr>
          <p:cNvPr id="5" name="Picture 4">
            <a:extLst>
              <a:ext uri="{FF2B5EF4-FFF2-40B4-BE49-F238E27FC236}">
                <a16:creationId xmlns:a16="http://schemas.microsoft.com/office/drawing/2014/main" id="{23536091-FCD0-87FB-B0BC-A98DE65BFC35}"/>
              </a:ext>
            </a:extLst>
          </p:cNvPr>
          <p:cNvPicPr>
            <a:picLocks noChangeAspect="1"/>
          </p:cNvPicPr>
          <p:nvPr/>
        </p:nvPicPr>
        <p:blipFill>
          <a:blip r:embed="rId2"/>
          <a:stretch>
            <a:fillRect/>
          </a:stretch>
        </p:blipFill>
        <p:spPr>
          <a:xfrm>
            <a:off x="4605337" y="1893336"/>
            <a:ext cx="2981325" cy="4324350"/>
          </a:xfrm>
          <a:prstGeom prst="rect">
            <a:avLst/>
          </a:prstGeom>
        </p:spPr>
      </p:pic>
    </p:spTree>
    <p:extLst>
      <p:ext uri="{BB962C8B-B14F-4D97-AF65-F5344CB8AC3E}">
        <p14:creationId xmlns:p14="http://schemas.microsoft.com/office/powerpoint/2010/main" val="518421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FF39B-1699-CA10-61A6-B74C4A854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F77B0-12FA-1CA3-4647-5580F7DA5391}"/>
              </a:ext>
            </a:extLst>
          </p:cNvPr>
          <p:cNvSpPr>
            <a:spLocks noGrp="1"/>
          </p:cNvSpPr>
          <p:nvPr>
            <p:ph type="ctrTitle"/>
          </p:nvPr>
        </p:nvSpPr>
        <p:spPr>
          <a:xfrm>
            <a:off x="1524000" y="530943"/>
            <a:ext cx="9144000" cy="462115"/>
          </a:xfrm>
        </p:spPr>
        <p:txBody>
          <a:bodyPr>
            <a:normAutofit fontScale="90000"/>
          </a:bodyPr>
          <a:lstStyle/>
          <a:p>
            <a:r>
              <a:rPr lang="en-IN" sz="5400" dirty="0"/>
              <a:t>POSIT ALU implementation</a:t>
            </a:r>
          </a:p>
        </p:txBody>
      </p:sp>
      <p:sp>
        <p:nvSpPr>
          <p:cNvPr id="3" name="Subtitle 2">
            <a:extLst>
              <a:ext uri="{FF2B5EF4-FFF2-40B4-BE49-F238E27FC236}">
                <a16:creationId xmlns:a16="http://schemas.microsoft.com/office/drawing/2014/main" id="{0C774C5A-1840-D726-DAB3-873B72E27A12}"/>
              </a:ext>
            </a:extLst>
          </p:cNvPr>
          <p:cNvSpPr>
            <a:spLocks noGrp="1"/>
          </p:cNvSpPr>
          <p:nvPr>
            <p:ph type="subTitle" idx="1"/>
          </p:nvPr>
        </p:nvSpPr>
        <p:spPr>
          <a:xfrm>
            <a:off x="1524000" y="993058"/>
            <a:ext cx="9144000" cy="5594555"/>
          </a:xfrm>
        </p:spPr>
        <p:txBody>
          <a:bodyPr>
            <a:normAutofit fontScale="85000" lnSpcReduction="20000"/>
          </a:bodyPr>
          <a:lstStyle/>
          <a:p>
            <a:pPr algn="l">
              <a:buNone/>
            </a:pPr>
            <a:r>
              <a:rPr lang="en-US" b="1" i="0" dirty="0">
                <a:solidFill>
                  <a:srgbClr val="404040"/>
                </a:solidFill>
                <a:effectLst/>
                <a:latin typeface="Inter"/>
              </a:rPr>
              <a:t>Posit Multiplication</a:t>
            </a:r>
          </a:p>
          <a:p>
            <a:pPr algn="l">
              <a:spcAft>
                <a:spcPts val="300"/>
              </a:spcAft>
              <a:buFont typeface="Arial" panose="020B0604020202020204" pitchFamily="34" charset="0"/>
              <a:buChar char="•"/>
            </a:pPr>
            <a:r>
              <a:rPr lang="en-US" b="1" i="0" dirty="0">
                <a:solidFill>
                  <a:srgbClr val="404040"/>
                </a:solidFill>
                <a:effectLst/>
                <a:latin typeface="Inter"/>
              </a:rPr>
              <a:t>Overview</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Posit multiplication is another key operation in the ALU. It involves multiplying the fractions, adding the exponents, and normalizing the result.</a:t>
            </a: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Steps</a:t>
            </a:r>
            <a:r>
              <a:rPr lang="en-US" b="0" i="0" dirty="0">
                <a:solidFill>
                  <a:srgbClr val="404040"/>
                </a:solidFill>
                <a:effectLst/>
                <a:latin typeface="Inter"/>
              </a:rPr>
              <a:t>:</a:t>
            </a:r>
          </a:p>
          <a:p>
            <a:pPr marL="742950" lvl="1" indent="-285750" algn="l">
              <a:spcBef>
                <a:spcPts val="300"/>
              </a:spcBef>
              <a:spcAft>
                <a:spcPts val="300"/>
              </a:spcAft>
              <a:buFont typeface="Arial" panose="020B0604020202020204" pitchFamily="34" charset="0"/>
              <a:buChar char="•"/>
            </a:pPr>
            <a:r>
              <a:rPr lang="en-US" b="1" i="0" dirty="0">
                <a:solidFill>
                  <a:srgbClr val="404040"/>
                </a:solidFill>
                <a:effectLst/>
                <a:latin typeface="Inter"/>
              </a:rPr>
              <a:t>Decompose Posit Numbers</a:t>
            </a:r>
            <a:r>
              <a:rPr lang="en-US"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b="0" i="0" dirty="0">
                <a:solidFill>
                  <a:srgbClr val="404040"/>
                </a:solidFill>
                <a:effectLst/>
                <a:latin typeface="Inter"/>
              </a:rPr>
              <a:t>Break down the input posit numbers (</a:t>
            </a:r>
            <a:r>
              <a:rPr lang="en-US" b="1" i="0" dirty="0">
                <a:solidFill>
                  <a:srgbClr val="404040"/>
                </a:solidFill>
                <a:effectLst/>
                <a:latin typeface="Inter"/>
              </a:rPr>
              <a:t>X</a:t>
            </a:r>
            <a:r>
              <a:rPr lang="en-US" b="0" i="0" dirty="0">
                <a:solidFill>
                  <a:srgbClr val="404040"/>
                </a:solidFill>
                <a:effectLst/>
                <a:latin typeface="Inter"/>
              </a:rPr>
              <a:t> and </a:t>
            </a:r>
            <a:r>
              <a:rPr lang="en-US" b="1" i="0" dirty="0">
                <a:solidFill>
                  <a:srgbClr val="404040"/>
                </a:solidFill>
                <a:effectLst/>
                <a:latin typeface="Inter"/>
              </a:rPr>
              <a:t>Y</a:t>
            </a:r>
            <a:r>
              <a:rPr lang="en-US" b="0" i="0" dirty="0">
                <a:solidFill>
                  <a:srgbClr val="404040"/>
                </a:solidFill>
                <a:effectLst/>
                <a:latin typeface="Inter"/>
              </a:rPr>
              <a:t>) into their components: </a:t>
            </a:r>
            <a:r>
              <a:rPr lang="en-US" b="1" i="0" dirty="0">
                <a:solidFill>
                  <a:srgbClr val="404040"/>
                </a:solidFill>
                <a:effectLst/>
                <a:latin typeface="Inter"/>
              </a:rPr>
              <a:t>sign (s)</a:t>
            </a:r>
            <a:r>
              <a:rPr lang="en-US" b="0" i="0" dirty="0">
                <a:solidFill>
                  <a:srgbClr val="404040"/>
                </a:solidFill>
                <a:effectLst/>
                <a:latin typeface="Inter"/>
              </a:rPr>
              <a:t>, </a:t>
            </a:r>
            <a:r>
              <a:rPr lang="en-US" b="1" i="0" dirty="0">
                <a:solidFill>
                  <a:srgbClr val="404040"/>
                </a:solidFill>
                <a:effectLst/>
                <a:latin typeface="Inter"/>
              </a:rPr>
              <a:t>regime (r)</a:t>
            </a:r>
            <a:r>
              <a:rPr lang="en-US" b="0" i="0" dirty="0">
                <a:solidFill>
                  <a:srgbClr val="404040"/>
                </a:solidFill>
                <a:effectLst/>
                <a:latin typeface="Inter"/>
              </a:rPr>
              <a:t>, </a:t>
            </a:r>
            <a:r>
              <a:rPr lang="en-US" b="1" i="0" dirty="0">
                <a:solidFill>
                  <a:srgbClr val="404040"/>
                </a:solidFill>
                <a:effectLst/>
                <a:latin typeface="Inter"/>
              </a:rPr>
              <a:t>exponent (e)</a:t>
            </a:r>
            <a:r>
              <a:rPr lang="en-US" b="0" i="0" dirty="0">
                <a:solidFill>
                  <a:srgbClr val="404040"/>
                </a:solidFill>
                <a:effectLst/>
                <a:latin typeface="Inter"/>
              </a:rPr>
              <a:t>, and </a:t>
            </a:r>
            <a:r>
              <a:rPr lang="en-US" b="1" i="0" dirty="0">
                <a:solidFill>
                  <a:srgbClr val="404040"/>
                </a:solidFill>
                <a:effectLst/>
                <a:latin typeface="Inter"/>
              </a:rPr>
              <a:t>fraction (f)</a:t>
            </a:r>
            <a:r>
              <a:rPr lang="en-US" b="0" i="0" dirty="0">
                <a:solidFill>
                  <a:srgbClr val="404040"/>
                </a:solidFill>
                <a:effectLst/>
                <a:latin typeface="Inter"/>
              </a:rPr>
              <a:t>.</a:t>
            </a:r>
          </a:p>
          <a:p>
            <a:pPr marL="742950" lvl="1" indent="-285750" algn="l">
              <a:spcBef>
                <a:spcPts val="300"/>
              </a:spcBef>
              <a:spcAft>
                <a:spcPts val="300"/>
              </a:spcAft>
              <a:buFont typeface="Arial" panose="020B0604020202020204" pitchFamily="34" charset="0"/>
              <a:buChar char="•"/>
            </a:pPr>
            <a:r>
              <a:rPr lang="en-US" b="1" i="0" dirty="0">
                <a:solidFill>
                  <a:srgbClr val="404040"/>
                </a:solidFill>
                <a:effectLst/>
                <a:latin typeface="Inter"/>
              </a:rPr>
              <a:t>Multiply Fractions</a:t>
            </a:r>
            <a:r>
              <a:rPr lang="en-US"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b="0" i="0" dirty="0">
                <a:solidFill>
                  <a:srgbClr val="404040"/>
                </a:solidFill>
                <a:effectLst/>
                <a:latin typeface="Inter"/>
              </a:rPr>
              <a:t>Multiply the fractions of </a:t>
            </a:r>
            <a:r>
              <a:rPr lang="en-US" b="1" i="0" dirty="0">
                <a:solidFill>
                  <a:srgbClr val="404040"/>
                </a:solidFill>
                <a:effectLst/>
                <a:latin typeface="Inter"/>
              </a:rPr>
              <a:t>X</a:t>
            </a:r>
            <a:r>
              <a:rPr lang="en-US" b="0" i="0" dirty="0">
                <a:solidFill>
                  <a:srgbClr val="404040"/>
                </a:solidFill>
                <a:effectLst/>
                <a:latin typeface="Inter"/>
              </a:rPr>
              <a:t> and </a:t>
            </a:r>
            <a:r>
              <a:rPr lang="en-US" b="1" i="0" dirty="0">
                <a:solidFill>
                  <a:srgbClr val="404040"/>
                </a:solidFill>
                <a:effectLst/>
                <a:latin typeface="Inter"/>
              </a:rPr>
              <a:t>Y</a:t>
            </a:r>
            <a:r>
              <a:rPr lang="en-US" b="0" i="0" dirty="0">
                <a:solidFill>
                  <a:srgbClr val="404040"/>
                </a:solidFill>
                <a:effectLst/>
                <a:latin typeface="Inter"/>
              </a:rPr>
              <a:t> using a binary multiplier.</a:t>
            </a:r>
          </a:p>
          <a:p>
            <a:pPr marL="1143000" lvl="2" indent="-228600" algn="l">
              <a:spcBef>
                <a:spcPts val="300"/>
              </a:spcBef>
              <a:buFont typeface="Arial" panose="020B0604020202020204" pitchFamily="34" charset="0"/>
              <a:buChar char="•"/>
            </a:pPr>
            <a:r>
              <a:rPr lang="en-US" b="0" i="0" dirty="0">
                <a:solidFill>
                  <a:srgbClr val="404040"/>
                </a:solidFill>
                <a:effectLst/>
                <a:latin typeface="Inter"/>
              </a:rPr>
              <a:t>Check for overflow in the product. If overflow occurs, shift the fraction right and adjust the exponent.</a:t>
            </a:r>
          </a:p>
          <a:p>
            <a:pPr marL="742950" lvl="1" indent="-285750" algn="l">
              <a:spcBef>
                <a:spcPts val="300"/>
              </a:spcBef>
              <a:spcAft>
                <a:spcPts val="300"/>
              </a:spcAft>
              <a:buFont typeface="Arial" panose="020B0604020202020204" pitchFamily="34" charset="0"/>
              <a:buChar char="•"/>
            </a:pPr>
            <a:r>
              <a:rPr lang="en-US" b="1" i="0" dirty="0">
                <a:solidFill>
                  <a:srgbClr val="404040"/>
                </a:solidFill>
                <a:effectLst/>
                <a:latin typeface="Inter"/>
              </a:rPr>
              <a:t>Add Exponents</a:t>
            </a:r>
            <a:r>
              <a:rPr lang="en-US"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b="0" i="0" dirty="0">
                <a:solidFill>
                  <a:srgbClr val="404040"/>
                </a:solidFill>
                <a:effectLst/>
                <a:latin typeface="Inter"/>
              </a:rPr>
              <a:t>Add the exponents of </a:t>
            </a:r>
            <a:r>
              <a:rPr lang="en-US" b="1" i="0" dirty="0">
                <a:solidFill>
                  <a:srgbClr val="404040"/>
                </a:solidFill>
                <a:effectLst/>
                <a:latin typeface="Inter"/>
              </a:rPr>
              <a:t>X</a:t>
            </a:r>
            <a:r>
              <a:rPr lang="en-US" b="0" i="0" dirty="0">
                <a:solidFill>
                  <a:srgbClr val="404040"/>
                </a:solidFill>
                <a:effectLst/>
                <a:latin typeface="Inter"/>
              </a:rPr>
              <a:t> and </a:t>
            </a:r>
            <a:r>
              <a:rPr lang="en-US" b="1" i="0" dirty="0">
                <a:solidFill>
                  <a:srgbClr val="404040"/>
                </a:solidFill>
                <a:effectLst/>
                <a:latin typeface="Inter"/>
              </a:rPr>
              <a:t>Y</a:t>
            </a:r>
            <a:r>
              <a:rPr lang="en-US" b="0" i="0" dirty="0">
                <a:solidFill>
                  <a:srgbClr val="404040"/>
                </a:solidFill>
                <a:effectLst/>
                <a:latin typeface="Inter"/>
              </a:rPr>
              <a:t> to determine the new exponent.</a:t>
            </a:r>
          </a:p>
          <a:p>
            <a:pPr marL="1143000" lvl="2" indent="-228600" algn="l">
              <a:spcBef>
                <a:spcPts val="300"/>
              </a:spcBef>
              <a:buFont typeface="Arial" panose="020B0604020202020204" pitchFamily="34" charset="0"/>
              <a:buChar char="•"/>
            </a:pPr>
            <a:r>
              <a:rPr lang="en-US" b="0" i="0" dirty="0">
                <a:solidFill>
                  <a:srgbClr val="404040"/>
                </a:solidFill>
                <a:effectLst/>
                <a:latin typeface="Inter"/>
              </a:rPr>
              <a:t>If the sum of the exponents exceeds the maximum allowed value, adjust the regime field.</a:t>
            </a:r>
          </a:p>
          <a:p>
            <a:pPr marL="742950" lvl="1" indent="-285750" algn="l">
              <a:spcBef>
                <a:spcPts val="300"/>
              </a:spcBef>
              <a:spcAft>
                <a:spcPts val="300"/>
              </a:spcAft>
              <a:buFont typeface="Arial" panose="020B0604020202020204" pitchFamily="34" charset="0"/>
              <a:buChar char="•"/>
            </a:pPr>
            <a:r>
              <a:rPr lang="en-US" b="1" i="0" dirty="0">
                <a:solidFill>
                  <a:srgbClr val="404040"/>
                </a:solidFill>
                <a:effectLst/>
                <a:latin typeface="Inter"/>
              </a:rPr>
              <a:t>Normalize the Result</a:t>
            </a:r>
            <a:r>
              <a:rPr lang="en-US"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b="0" i="0" dirty="0">
                <a:solidFill>
                  <a:srgbClr val="404040"/>
                </a:solidFill>
                <a:effectLst/>
                <a:latin typeface="Inter"/>
              </a:rPr>
              <a:t>Normalize the fraction and adjust the exponent and regime fields to ensure the result is within the valid posit range.</a:t>
            </a:r>
          </a:p>
          <a:p>
            <a:pPr marL="742950" lvl="1" indent="-285750" algn="l">
              <a:spcBef>
                <a:spcPts val="300"/>
              </a:spcBef>
              <a:spcAft>
                <a:spcPts val="300"/>
              </a:spcAft>
              <a:buFont typeface="Arial" panose="020B0604020202020204" pitchFamily="34" charset="0"/>
              <a:buChar char="•"/>
            </a:pPr>
            <a:r>
              <a:rPr lang="en-US" b="1" i="0" dirty="0">
                <a:solidFill>
                  <a:srgbClr val="404040"/>
                </a:solidFill>
                <a:effectLst/>
                <a:latin typeface="Inter"/>
              </a:rPr>
              <a:t>Reconstruct the Posit</a:t>
            </a:r>
            <a:r>
              <a:rPr lang="en-US" b="0" i="0" dirty="0">
                <a:solidFill>
                  <a:srgbClr val="404040"/>
                </a:solidFill>
                <a:effectLst/>
                <a:latin typeface="Inter"/>
              </a:rPr>
              <a:t>:</a:t>
            </a:r>
          </a:p>
          <a:p>
            <a:pPr marL="1143000" lvl="2" indent="-228600" algn="l">
              <a:spcBef>
                <a:spcPts val="300"/>
              </a:spcBef>
              <a:buFont typeface="Arial" panose="020B0604020202020204" pitchFamily="34" charset="0"/>
              <a:buChar char="•"/>
            </a:pPr>
            <a:r>
              <a:rPr lang="en-US" b="0" i="0" dirty="0">
                <a:solidFill>
                  <a:srgbClr val="404040"/>
                </a:solidFill>
                <a:effectLst/>
                <a:latin typeface="Inter"/>
              </a:rPr>
              <a:t>Combine the sign, regime, exponent, and normalized fraction to form the final posit result.</a:t>
            </a: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Advantages</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Posit multiplication is simpler and more efficient than IEEE 754 multiplication due to the absence of complex exception handling.</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The dynamic regime field ensures high precision and range without overflow or underflow.</a:t>
            </a:r>
          </a:p>
          <a:p>
            <a:endParaRPr lang="en-IN" dirty="0"/>
          </a:p>
        </p:txBody>
      </p:sp>
    </p:spTree>
    <p:extLst>
      <p:ext uri="{BB962C8B-B14F-4D97-AF65-F5344CB8AC3E}">
        <p14:creationId xmlns:p14="http://schemas.microsoft.com/office/powerpoint/2010/main" val="1610267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623C9-3C85-41CA-5E09-57B7EC047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BB7F4-E2E1-1DA8-2953-F501D27A0C61}"/>
              </a:ext>
            </a:extLst>
          </p:cNvPr>
          <p:cNvSpPr>
            <a:spLocks noGrp="1"/>
          </p:cNvSpPr>
          <p:nvPr>
            <p:ph type="ctrTitle"/>
          </p:nvPr>
        </p:nvSpPr>
        <p:spPr>
          <a:xfrm>
            <a:off x="1524000" y="530943"/>
            <a:ext cx="9144000" cy="462115"/>
          </a:xfrm>
        </p:spPr>
        <p:txBody>
          <a:bodyPr>
            <a:normAutofit fontScale="90000"/>
          </a:bodyPr>
          <a:lstStyle/>
          <a:p>
            <a:r>
              <a:rPr lang="en-IN" sz="5400" dirty="0"/>
              <a:t>POSIT ALU implementation</a:t>
            </a:r>
          </a:p>
        </p:txBody>
      </p:sp>
      <p:sp>
        <p:nvSpPr>
          <p:cNvPr id="3" name="Subtitle 2">
            <a:extLst>
              <a:ext uri="{FF2B5EF4-FFF2-40B4-BE49-F238E27FC236}">
                <a16:creationId xmlns:a16="http://schemas.microsoft.com/office/drawing/2014/main" id="{4E0752DB-2529-0107-7686-9E741F346D1F}"/>
              </a:ext>
            </a:extLst>
          </p:cNvPr>
          <p:cNvSpPr>
            <a:spLocks noGrp="1"/>
          </p:cNvSpPr>
          <p:nvPr>
            <p:ph type="subTitle" idx="1"/>
          </p:nvPr>
        </p:nvSpPr>
        <p:spPr>
          <a:xfrm>
            <a:off x="1524000" y="993058"/>
            <a:ext cx="9144000" cy="5594555"/>
          </a:xfrm>
        </p:spPr>
        <p:txBody>
          <a:bodyPr>
            <a:normAutofit/>
          </a:bodyPr>
          <a:lstStyle/>
          <a:p>
            <a:endParaRPr lang="en-IN" dirty="0"/>
          </a:p>
          <a:p>
            <a:r>
              <a:rPr lang="en-IN" dirty="0"/>
              <a:t>Posit Multiplication Flowchart</a:t>
            </a:r>
          </a:p>
          <a:p>
            <a:endParaRPr lang="en-IN" dirty="0"/>
          </a:p>
          <a:p>
            <a:endParaRPr lang="en-IN" dirty="0"/>
          </a:p>
        </p:txBody>
      </p:sp>
      <p:pic>
        <p:nvPicPr>
          <p:cNvPr id="4" name="Picture 3">
            <a:extLst>
              <a:ext uri="{FF2B5EF4-FFF2-40B4-BE49-F238E27FC236}">
                <a16:creationId xmlns:a16="http://schemas.microsoft.com/office/drawing/2014/main" id="{A3296AA7-C07C-2C47-01C2-AEC30AA9CC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5497" y="1935099"/>
            <a:ext cx="2961005" cy="4011930"/>
          </a:xfrm>
          <a:prstGeom prst="rect">
            <a:avLst/>
          </a:prstGeom>
        </p:spPr>
      </p:pic>
    </p:spTree>
    <p:extLst>
      <p:ext uri="{BB962C8B-B14F-4D97-AF65-F5344CB8AC3E}">
        <p14:creationId xmlns:p14="http://schemas.microsoft.com/office/powerpoint/2010/main" val="1935823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D9317-7DA9-6920-B4DC-03433AA751B4}"/>
              </a:ext>
            </a:extLst>
          </p:cNvPr>
          <p:cNvSpPr>
            <a:spLocks noGrp="1"/>
          </p:cNvSpPr>
          <p:nvPr>
            <p:ph type="title"/>
          </p:nvPr>
        </p:nvSpPr>
        <p:spPr/>
        <p:txBody>
          <a:bodyPr/>
          <a:lstStyle/>
          <a:p>
            <a:pPr algn="ctr"/>
            <a:r>
              <a:rPr lang="en-IN" dirty="0"/>
              <a:t>Theory : Model Predictive Control</a:t>
            </a:r>
          </a:p>
        </p:txBody>
      </p:sp>
      <p:sp>
        <p:nvSpPr>
          <p:cNvPr id="4" name="Rectangle 1">
            <a:extLst>
              <a:ext uri="{FF2B5EF4-FFF2-40B4-BE49-F238E27FC236}">
                <a16:creationId xmlns:a16="http://schemas.microsoft.com/office/drawing/2014/main" id="{2CBA6092-AD80-ACC1-574E-507053235451}"/>
              </a:ext>
            </a:extLst>
          </p:cNvPr>
          <p:cNvSpPr>
            <a:spLocks noGrp="1" noChangeArrowheads="1"/>
          </p:cNvSpPr>
          <p:nvPr>
            <p:ph idx="1"/>
          </p:nvPr>
        </p:nvSpPr>
        <p:spPr bwMode="auto">
          <a:xfrm>
            <a:off x="838200" y="2031526"/>
            <a:ext cx="10333278"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Optimization-Based Control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MPC predicts future system behavior and computes optimal control actions while respecting constraints.</a:t>
            </a: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Only the first control input is applied, and the process repeats with updated states.</a:t>
            </a:r>
          </a:p>
          <a:p>
            <a:pPr marL="457200" lvl="1" indent="0" eaLnBrk="0" fontAlgn="base" hangingPunct="0">
              <a:lnSpc>
                <a:spcPct val="100000"/>
              </a:lnSpc>
              <a:spcBef>
                <a:spcPct val="0"/>
              </a:spcBef>
              <a:spcAft>
                <a:spcPct val="0"/>
              </a:spcAft>
              <a:buNone/>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Feedback and Adaptation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Continuously updates predictions based on measured outputs and disturbances.</a:t>
            </a: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Ensures optimal performance despite uncertainties.</a:t>
            </a:r>
          </a:p>
          <a:p>
            <a:pPr marL="457200" lvl="1" indent="0" eaLnBrk="0" fontAlgn="base" hangingPunct="0">
              <a:lnSpc>
                <a:spcPct val="100000"/>
              </a:lnSpc>
              <a:spcBef>
                <a:spcPct val="0"/>
              </a:spcBef>
              <a:spcAft>
                <a:spcPct val="0"/>
              </a:spcAft>
              <a:buNone/>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Constraint Handling &amp;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Explicitly considers system constraints while optimizing control actions.</a:t>
            </a: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Balances reference tracking and safety in applications like robotics, automotive, and energy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1319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E86F9-0A0A-56A3-6F88-5882501E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66A72-9CE7-7763-9E7B-52FA08ACDB3E}"/>
              </a:ext>
            </a:extLst>
          </p:cNvPr>
          <p:cNvSpPr>
            <a:spLocks noGrp="1"/>
          </p:cNvSpPr>
          <p:nvPr>
            <p:ph type="title"/>
          </p:nvPr>
        </p:nvSpPr>
        <p:spPr/>
        <p:txBody>
          <a:bodyPr/>
          <a:lstStyle/>
          <a:p>
            <a:pPr algn="ctr"/>
            <a:r>
              <a:rPr lang="en-IN" dirty="0"/>
              <a:t>Theory : Model Predictive Control</a:t>
            </a:r>
          </a:p>
        </p:txBody>
      </p:sp>
      <p:sp>
        <p:nvSpPr>
          <p:cNvPr id="4" name="Rectangle 1">
            <a:extLst>
              <a:ext uri="{FF2B5EF4-FFF2-40B4-BE49-F238E27FC236}">
                <a16:creationId xmlns:a16="http://schemas.microsoft.com/office/drawing/2014/main" id="{746D38D3-CF29-8238-BE74-AE0FD613CBDD}"/>
              </a:ext>
            </a:extLst>
          </p:cNvPr>
          <p:cNvSpPr>
            <a:spLocks noGrp="1" noChangeArrowheads="1"/>
          </p:cNvSpPr>
          <p:nvPr>
            <p:ph idx="1"/>
          </p:nvPr>
        </p:nvSpPr>
        <p:spPr bwMode="auto">
          <a:xfrm>
            <a:off x="838200" y="1690688"/>
            <a:ext cx="10515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ctr"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Why MPC over other controllers ? </a:t>
            </a:r>
          </a:p>
          <a:p>
            <a:pPr marL="457200" lvl="1"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F0E04E00-962B-7DEE-8E58-980B68C9D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8688" y="2492467"/>
            <a:ext cx="6181344" cy="3515020"/>
          </a:xfrm>
          <a:prstGeom prst="rect">
            <a:avLst/>
          </a:prstGeom>
        </p:spPr>
      </p:pic>
    </p:spTree>
    <p:extLst>
      <p:ext uri="{BB962C8B-B14F-4D97-AF65-F5344CB8AC3E}">
        <p14:creationId xmlns:p14="http://schemas.microsoft.com/office/powerpoint/2010/main" val="3577697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C101-FCC0-0118-274E-27E8E77DC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DB7E2-05BC-E33F-18E8-7F625F593C46}"/>
              </a:ext>
            </a:extLst>
          </p:cNvPr>
          <p:cNvSpPr>
            <a:spLocks noGrp="1"/>
          </p:cNvSpPr>
          <p:nvPr>
            <p:ph type="title"/>
          </p:nvPr>
        </p:nvSpPr>
        <p:spPr/>
        <p:txBody>
          <a:bodyPr/>
          <a:lstStyle/>
          <a:p>
            <a:pPr algn="ctr"/>
            <a:r>
              <a:rPr lang="en-IN" dirty="0"/>
              <a:t>Theory : Model Predictive Control</a:t>
            </a:r>
          </a:p>
        </p:txBody>
      </p:sp>
      <p:sp>
        <p:nvSpPr>
          <p:cNvPr id="4" name="Rectangle 1">
            <a:extLst>
              <a:ext uri="{FF2B5EF4-FFF2-40B4-BE49-F238E27FC236}">
                <a16:creationId xmlns:a16="http://schemas.microsoft.com/office/drawing/2014/main" id="{9F2236E4-7405-2DA7-E8F7-AE9848DA08B1}"/>
              </a:ext>
            </a:extLst>
          </p:cNvPr>
          <p:cNvSpPr>
            <a:spLocks noGrp="1" noChangeArrowheads="1"/>
          </p:cNvSpPr>
          <p:nvPr>
            <p:ph idx="1"/>
          </p:nvPr>
        </p:nvSpPr>
        <p:spPr bwMode="auto">
          <a:xfrm>
            <a:off x="838200" y="1690688"/>
            <a:ext cx="10515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ctr"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Why MPC over other controllers ? </a:t>
            </a:r>
          </a:p>
          <a:p>
            <a:pPr marL="457200" lvl="1"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CBBBB004-12E6-6EA1-3071-0423F3EC09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151" y="2155259"/>
            <a:ext cx="9659698" cy="3553321"/>
          </a:xfrm>
          <a:prstGeom prst="rect">
            <a:avLst/>
          </a:prstGeom>
        </p:spPr>
      </p:pic>
    </p:spTree>
    <p:extLst>
      <p:ext uri="{BB962C8B-B14F-4D97-AF65-F5344CB8AC3E}">
        <p14:creationId xmlns:p14="http://schemas.microsoft.com/office/powerpoint/2010/main" val="1782050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48DEC-0168-9FFD-CE59-22D70C06C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FFA6E-C052-A884-097B-F1F23DA96E00}"/>
              </a:ext>
            </a:extLst>
          </p:cNvPr>
          <p:cNvSpPr>
            <a:spLocks noGrp="1"/>
          </p:cNvSpPr>
          <p:nvPr>
            <p:ph type="title"/>
          </p:nvPr>
        </p:nvSpPr>
        <p:spPr/>
        <p:txBody>
          <a:bodyPr/>
          <a:lstStyle/>
          <a:p>
            <a:pPr algn="ctr"/>
            <a:r>
              <a:rPr lang="en-IN" dirty="0"/>
              <a:t>Theory : Model Predictive Control</a:t>
            </a:r>
          </a:p>
        </p:txBody>
      </p:sp>
      <p:sp>
        <p:nvSpPr>
          <p:cNvPr id="4" name="Rectangle 1">
            <a:extLst>
              <a:ext uri="{FF2B5EF4-FFF2-40B4-BE49-F238E27FC236}">
                <a16:creationId xmlns:a16="http://schemas.microsoft.com/office/drawing/2014/main" id="{350D412E-70DE-2D8F-04D9-5008FF083C45}"/>
              </a:ext>
            </a:extLst>
          </p:cNvPr>
          <p:cNvSpPr>
            <a:spLocks noGrp="1" noChangeArrowheads="1"/>
          </p:cNvSpPr>
          <p:nvPr>
            <p:ph idx="1"/>
          </p:nvPr>
        </p:nvSpPr>
        <p:spPr bwMode="auto">
          <a:xfrm>
            <a:off x="853440" y="1690688"/>
            <a:ext cx="10515600" cy="328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ctr"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Why MPC over other controllers ? </a:t>
            </a:r>
          </a:p>
          <a:p>
            <a:pPr marL="457200" lvl="1" indent="0" algn="ctr"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algn="ctr" eaLnBrk="0" fontAlgn="base" hangingPunct="0">
              <a:lnSpc>
                <a:spcPct val="100000"/>
              </a:lnSpc>
              <a:spcBef>
                <a:spcPct val="0"/>
              </a:spcBef>
              <a:spcAft>
                <a:spcPct val="0"/>
              </a:spcAft>
              <a:buNone/>
            </a:pPr>
            <a:endParaRPr lang="en-US" altLang="en-US" sz="1800" dirty="0">
              <a:latin typeface="Arial" panose="020B0604020202020204" pitchFamily="34" charset="0"/>
            </a:endParaRPr>
          </a:p>
          <a:p>
            <a:r>
              <a:rPr lang="en-US" sz="1800" b="1" dirty="0"/>
              <a:t>Preview Capability (Prediction-Based Control)</a:t>
            </a:r>
          </a:p>
          <a:p>
            <a:pPr marL="0" indent="0">
              <a:buNone/>
            </a:pPr>
            <a:endParaRPr lang="en-US" sz="1800" dirty="0"/>
          </a:p>
          <a:p>
            <a:pPr lvl="1"/>
            <a:r>
              <a:rPr lang="en-US" sz="1400" dirty="0"/>
              <a:t>MPC predicts future system behavior using a model, optimizing control inputs proactively.</a:t>
            </a:r>
          </a:p>
          <a:p>
            <a:pPr marL="457200" lvl="1" indent="0">
              <a:buNone/>
            </a:pPr>
            <a:endParaRPr lang="en-US" sz="1400" dirty="0"/>
          </a:p>
          <a:p>
            <a:pPr lvl="1"/>
            <a:r>
              <a:rPr lang="en-US" sz="1400" dirty="0"/>
              <a:t>PID reacts only to current errors, lacking the ability to anticipate future disturbances.</a:t>
            </a:r>
          </a:p>
          <a:p>
            <a:pPr marL="457200" lvl="1" indent="0" algn="ctr"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algn="ctr"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9C985BD9-3485-3021-76EC-76B09C3BE9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553" y="4228733"/>
            <a:ext cx="4115374" cy="2629267"/>
          </a:xfrm>
          <a:prstGeom prst="rect">
            <a:avLst/>
          </a:prstGeom>
        </p:spPr>
      </p:pic>
    </p:spTree>
    <p:extLst>
      <p:ext uri="{BB962C8B-B14F-4D97-AF65-F5344CB8AC3E}">
        <p14:creationId xmlns:p14="http://schemas.microsoft.com/office/powerpoint/2010/main" val="1785500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0EA60-BE6A-8666-79DE-7818EA336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796EB-8B4E-9B80-5A96-B871404DD8C8}"/>
              </a:ext>
            </a:extLst>
          </p:cNvPr>
          <p:cNvSpPr>
            <a:spLocks noGrp="1"/>
          </p:cNvSpPr>
          <p:nvPr>
            <p:ph type="title"/>
          </p:nvPr>
        </p:nvSpPr>
        <p:spPr/>
        <p:txBody>
          <a:bodyPr/>
          <a:lstStyle/>
          <a:p>
            <a:pPr algn="ctr"/>
            <a:r>
              <a:rPr lang="en-IN" dirty="0"/>
              <a:t>Theory : Model Predictive Control</a:t>
            </a:r>
          </a:p>
        </p:txBody>
      </p:sp>
      <p:sp>
        <p:nvSpPr>
          <p:cNvPr id="4" name="Rectangle 1">
            <a:extLst>
              <a:ext uri="{FF2B5EF4-FFF2-40B4-BE49-F238E27FC236}">
                <a16:creationId xmlns:a16="http://schemas.microsoft.com/office/drawing/2014/main" id="{AE2B131B-FF04-1E95-3715-B9399AAF2B47}"/>
              </a:ext>
            </a:extLst>
          </p:cNvPr>
          <p:cNvSpPr>
            <a:spLocks noGrp="1" noChangeArrowheads="1"/>
          </p:cNvSpPr>
          <p:nvPr>
            <p:ph idx="1"/>
          </p:nvPr>
        </p:nvSpPr>
        <p:spPr bwMode="auto">
          <a:xfrm>
            <a:off x="838200" y="1736854"/>
            <a:ext cx="10515600"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ctr" eaLnBrk="0" fontAlgn="base" hangingPunct="0">
              <a:lnSpc>
                <a:spcPct val="100000"/>
              </a:lnSpc>
              <a:spcBef>
                <a:spcPct val="0"/>
              </a:spcBef>
              <a:spcAft>
                <a:spcPct val="0"/>
              </a:spcAft>
              <a:buNone/>
            </a:pPr>
            <a:r>
              <a:rPr lang="en-US" sz="2000" b="1" dirty="0"/>
              <a:t>Explicit Model Predictive Control (Explicit MPC)</a:t>
            </a:r>
            <a:r>
              <a:rPr lang="en-US" sz="2000" dirty="0"/>
              <a:t> </a:t>
            </a:r>
          </a:p>
          <a:p>
            <a:pPr marL="457200" lvl="1" indent="0" algn="ctr" eaLnBrk="0" fontAlgn="base" hangingPunct="0">
              <a:lnSpc>
                <a:spcPct val="100000"/>
              </a:lnSpc>
              <a:spcBef>
                <a:spcPct val="0"/>
              </a:spcBef>
              <a:spcAft>
                <a:spcPct val="0"/>
              </a:spcAft>
              <a:buNone/>
            </a:pPr>
            <a:endParaRPr lang="en-US" sz="1800" dirty="0"/>
          </a:p>
          <a:p>
            <a:pPr marL="457200" lvl="1" indent="0" algn="ctr" eaLnBrk="0" fontAlgn="base" hangingPunct="0">
              <a:lnSpc>
                <a:spcPct val="100000"/>
              </a:lnSpc>
              <a:spcBef>
                <a:spcPct val="0"/>
              </a:spcBef>
              <a:spcAft>
                <a:spcPct val="0"/>
              </a:spcAft>
              <a:buNone/>
            </a:pPr>
            <a:endParaRPr lang="en-US" sz="1600" dirty="0"/>
          </a:p>
          <a:p>
            <a:pPr lvl="1" eaLnBrk="0" fontAlgn="base" hangingPunct="0">
              <a:lnSpc>
                <a:spcPct val="100000"/>
              </a:lnSpc>
              <a:spcBef>
                <a:spcPct val="0"/>
              </a:spcBef>
              <a:spcAft>
                <a:spcPct val="0"/>
              </a:spcAft>
            </a:pPr>
            <a:r>
              <a:rPr lang="en-US" sz="1600" dirty="0">
                <a:latin typeface="Arial" panose="020B0604020202020204" pitchFamily="34" charset="0"/>
                <a:cs typeface="Arial" panose="020B0604020202020204" pitchFamily="34" charset="0"/>
              </a:rPr>
              <a:t>It is a precomputed version of MPC where the control law is represented as a piecewise affine function of the system state. Instead of solving an optimization problem at each time step, Explicit MPC evaluates a precomputed solution, making it highly efficient for real-time applications.</a:t>
            </a:r>
          </a:p>
          <a:p>
            <a:pPr lvl="1" eaLnBrk="0" fontAlgn="base" hangingPunct="0">
              <a:lnSpc>
                <a:spcPct val="100000"/>
              </a:lnSpc>
              <a:spcBef>
                <a:spcPct val="0"/>
              </a:spcBef>
              <a:spcAft>
                <a:spcPct val="0"/>
              </a:spcAft>
            </a:pPr>
            <a:endParaRPr lang="en-US" altLang="en-US" sz="1600" dirty="0">
              <a:latin typeface="Arial" panose="020B0604020202020204" pitchFamily="34" charset="0"/>
            </a:endParaRPr>
          </a:p>
          <a:p>
            <a:pPr lvl="1" eaLnBrk="0" fontAlgn="base" hangingPunct="0">
              <a:lnSpc>
                <a:spcPct val="100000"/>
              </a:lnSpc>
              <a:spcBef>
                <a:spcPct val="0"/>
              </a:spcBef>
              <a:spcAft>
                <a:spcPct val="0"/>
              </a:spcAft>
            </a:pPr>
            <a:r>
              <a:rPr lang="en-US" altLang="en-US" sz="1600" dirty="0">
                <a:latin typeface="Arial" panose="020B0604020202020204" pitchFamily="34" charset="0"/>
              </a:rPr>
              <a:t>In Online mode , this PWA is used to select appropriate region the current state is at and where it should head to next using point location algorithm.</a:t>
            </a:r>
          </a:p>
          <a:p>
            <a:pPr lvl="1" eaLnBrk="0" fontAlgn="base" hangingPunct="0">
              <a:lnSpc>
                <a:spcPct val="100000"/>
              </a:lnSpc>
              <a:spcBef>
                <a:spcPct val="0"/>
              </a:spcBef>
              <a:spcAft>
                <a:spcPct val="0"/>
              </a:spcAft>
            </a:pPr>
            <a:endParaRPr lang="en-US" altLang="en-US" sz="1600" dirty="0">
              <a:latin typeface="Arial" panose="020B0604020202020204" pitchFamily="34" charset="0"/>
            </a:endParaRPr>
          </a:p>
          <a:p>
            <a:pPr lvl="1" eaLnBrk="0" fontAlgn="base" hangingPunct="0">
              <a:lnSpc>
                <a:spcPct val="100000"/>
              </a:lnSpc>
              <a:spcBef>
                <a:spcPct val="0"/>
              </a:spcBef>
              <a:spcAft>
                <a:spcPct val="0"/>
              </a:spcAft>
            </a:pPr>
            <a:r>
              <a:rPr lang="en-US" altLang="en-US" sz="1600" dirty="0">
                <a:latin typeface="Arial" panose="020B0604020202020204" pitchFamily="34" charset="0"/>
              </a:rPr>
              <a:t>As there is no need to find whole solution of </a:t>
            </a:r>
            <a:r>
              <a:rPr lang="en-US" altLang="en-US" sz="1600" dirty="0" err="1">
                <a:latin typeface="Arial" panose="020B0604020202020204" pitchFamily="34" charset="0"/>
              </a:rPr>
              <a:t>mpc</a:t>
            </a:r>
            <a:r>
              <a:rPr lang="en-US" altLang="en-US" sz="1600" dirty="0">
                <a:latin typeface="Arial" panose="020B0604020202020204" pitchFamily="34" charset="0"/>
              </a:rPr>
              <a:t> at each sample time , Explicit </a:t>
            </a:r>
            <a:r>
              <a:rPr lang="en-US" altLang="en-US" sz="1600" dirty="0" err="1">
                <a:latin typeface="Arial" panose="020B0604020202020204" pitchFamily="34" charset="0"/>
              </a:rPr>
              <a:t>mpc</a:t>
            </a:r>
            <a:r>
              <a:rPr lang="en-US" altLang="en-US" sz="1600" dirty="0">
                <a:latin typeface="Arial" panose="020B0604020202020204" pitchFamily="34" charset="0"/>
              </a:rPr>
              <a:t> is best suited for real time FPGA – based embedded systems.</a:t>
            </a:r>
          </a:p>
          <a:p>
            <a:pPr marL="457200" lvl="1" indent="0" eaLnBrk="0" fontAlgn="base" hangingPunct="0">
              <a:lnSpc>
                <a:spcPct val="100000"/>
              </a:lnSpc>
              <a:spcBef>
                <a:spcPct val="0"/>
              </a:spcBef>
              <a:spcAft>
                <a:spcPct val="0"/>
              </a:spcAft>
              <a:buNone/>
            </a:pPr>
            <a:r>
              <a:rPr lang="en-US" altLang="en-US" sz="1400" dirty="0">
                <a:latin typeface="Arial" panose="020B0604020202020204" pitchFamily="34" charset="0"/>
              </a:rPr>
              <a:t>  </a:t>
            </a:r>
          </a:p>
          <a:p>
            <a:pPr marL="457200" lvl="1" indent="0" algn="ctr"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algn="ctr"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20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B033C-53EB-E3C8-9222-70FE745F1BD6}"/>
              </a:ext>
            </a:extLst>
          </p:cNvPr>
          <p:cNvSpPr>
            <a:spLocks noGrp="1"/>
          </p:cNvSpPr>
          <p:nvPr>
            <p:ph type="title"/>
          </p:nvPr>
        </p:nvSpPr>
        <p:spPr/>
        <p:txBody>
          <a:bodyPr>
            <a:normAutofit/>
          </a:bodyPr>
          <a:lstStyle/>
          <a:p>
            <a:r>
              <a:rPr lang="en-IN" sz="3800" dirty="0"/>
              <a:t>Implementation of EMPC using MATLAB and Verilog</a:t>
            </a:r>
          </a:p>
        </p:txBody>
      </p:sp>
      <p:sp>
        <p:nvSpPr>
          <p:cNvPr id="3" name="Content Placeholder 2">
            <a:extLst>
              <a:ext uri="{FF2B5EF4-FFF2-40B4-BE49-F238E27FC236}">
                <a16:creationId xmlns:a16="http://schemas.microsoft.com/office/drawing/2014/main" id="{25E39997-40AE-F724-37CE-1F6003FBCC75}"/>
              </a:ext>
            </a:extLst>
          </p:cNvPr>
          <p:cNvSpPr>
            <a:spLocks noGrp="1"/>
          </p:cNvSpPr>
          <p:nvPr>
            <p:ph idx="1"/>
          </p:nvPr>
        </p:nvSpPr>
        <p:spPr/>
        <p:txBody>
          <a:bodyPr/>
          <a:lstStyle/>
          <a:p>
            <a:r>
              <a:rPr lang="en-IN" sz="2600" dirty="0"/>
              <a:t>EMPC Formulation in MATLAB</a:t>
            </a:r>
          </a:p>
          <a:p>
            <a:r>
              <a:rPr lang="en-IN" sz="1800" dirty="0" err="1"/>
              <a:t>Matlab</a:t>
            </a:r>
            <a:r>
              <a:rPr lang="en-IN" sz="1800" dirty="0"/>
              <a:t> comes with Model Predictive Control Tools package which can formulate desired MPC problem within given inputs and constraints</a:t>
            </a:r>
          </a:p>
          <a:p>
            <a:r>
              <a:rPr lang="en-IN" sz="1800" dirty="0"/>
              <a:t>We use this model to extract PWA function that looks like following:</a:t>
            </a:r>
          </a:p>
          <a:p>
            <a:endParaRPr lang="en-IN" sz="1800" dirty="0"/>
          </a:p>
          <a:p>
            <a:endParaRPr lang="en-IN" sz="1800" dirty="0"/>
          </a:p>
          <a:p>
            <a:endParaRPr lang="en-IN" sz="1800" dirty="0"/>
          </a:p>
          <a:p>
            <a:endParaRPr lang="en-IN" sz="1800" dirty="0"/>
          </a:p>
          <a:p>
            <a:endParaRPr lang="en-IN" sz="1800" dirty="0"/>
          </a:p>
          <a:p>
            <a:r>
              <a:rPr lang="en-IN" sz="1800" dirty="0"/>
              <a:t>So in online mode, problem boils to finding k(x).</a:t>
            </a:r>
          </a:p>
          <a:p>
            <a:endParaRPr lang="en-IN" sz="1800" dirty="0"/>
          </a:p>
        </p:txBody>
      </p:sp>
      <p:pic>
        <p:nvPicPr>
          <p:cNvPr id="4" name="Picture 3">
            <a:extLst>
              <a:ext uri="{FF2B5EF4-FFF2-40B4-BE49-F238E27FC236}">
                <a16:creationId xmlns:a16="http://schemas.microsoft.com/office/drawing/2014/main" id="{E523D605-DD61-B0C3-1460-67CB1BBE8276}"/>
              </a:ext>
            </a:extLst>
          </p:cNvPr>
          <p:cNvPicPr>
            <a:picLocks noChangeAspect="1"/>
          </p:cNvPicPr>
          <p:nvPr/>
        </p:nvPicPr>
        <p:blipFill>
          <a:blip r:embed="rId2"/>
          <a:stretch>
            <a:fillRect/>
          </a:stretch>
        </p:blipFill>
        <p:spPr>
          <a:xfrm>
            <a:off x="3979068" y="3540014"/>
            <a:ext cx="3264599" cy="1196880"/>
          </a:xfrm>
          <a:prstGeom prst="rect">
            <a:avLst/>
          </a:prstGeom>
        </p:spPr>
      </p:pic>
    </p:spTree>
    <p:extLst>
      <p:ext uri="{BB962C8B-B14F-4D97-AF65-F5344CB8AC3E}">
        <p14:creationId xmlns:p14="http://schemas.microsoft.com/office/powerpoint/2010/main" val="3770519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5796B-3EC8-EF2C-12DA-6FF50EAC5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0D36E-812F-C1BB-8B99-9C8B81500B38}"/>
              </a:ext>
            </a:extLst>
          </p:cNvPr>
          <p:cNvSpPr>
            <a:spLocks noGrp="1"/>
          </p:cNvSpPr>
          <p:nvPr>
            <p:ph type="title"/>
          </p:nvPr>
        </p:nvSpPr>
        <p:spPr/>
        <p:txBody>
          <a:bodyPr>
            <a:normAutofit/>
          </a:bodyPr>
          <a:lstStyle/>
          <a:p>
            <a:r>
              <a:rPr lang="en-IN" sz="3800" dirty="0"/>
              <a:t>Implementation of EMPC using MATLAB and Verilog</a:t>
            </a:r>
          </a:p>
        </p:txBody>
      </p:sp>
      <p:sp>
        <p:nvSpPr>
          <p:cNvPr id="3" name="Content Placeholder 2">
            <a:extLst>
              <a:ext uri="{FF2B5EF4-FFF2-40B4-BE49-F238E27FC236}">
                <a16:creationId xmlns:a16="http://schemas.microsoft.com/office/drawing/2014/main" id="{F8BF16C4-EA11-300B-5CFB-6DA926843AA9}"/>
              </a:ext>
            </a:extLst>
          </p:cNvPr>
          <p:cNvSpPr>
            <a:spLocks noGrp="1"/>
          </p:cNvSpPr>
          <p:nvPr>
            <p:ph idx="1"/>
          </p:nvPr>
        </p:nvSpPr>
        <p:spPr/>
        <p:txBody>
          <a:bodyPr/>
          <a:lstStyle/>
          <a:p>
            <a:pPr algn="just">
              <a:lnSpc>
                <a:spcPct val="107000"/>
              </a:lnSpc>
            </a:pPr>
            <a:r>
              <a:rPr lang="en-IN" sz="2600" kern="100" dirty="0">
                <a:effectLst/>
                <a:latin typeface="Times New Roman" panose="02020603050405020304" pitchFamily="18" charset="0"/>
                <a:ea typeface="Calibri" panose="020F0502020204030204" pitchFamily="34" charset="0"/>
                <a:cs typeface="Cordia New" panose="020B0304020202020204" pitchFamily="34" charset="-34"/>
              </a:rPr>
              <a:t>Point Location Algorithm </a:t>
            </a: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r>
              <a:rPr lang="en-IN" sz="1800" dirty="0">
                <a:effectLst/>
                <a:latin typeface="Times New Roman" panose="02020603050405020304" pitchFamily="18" charset="0"/>
                <a:ea typeface="Calibri" panose="020F0502020204030204" pitchFamily="34" charset="0"/>
              </a:rPr>
              <a:t> In EMPC, we need to find the critical region in which the current state belongs to; then it evaluates the control action as the PWA function associated with that region, which tends to be irregular; this problem of determining the regions is known as the PLA.</a:t>
            </a:r>
          </a:p>
          <a:p>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In this work, we used the SS(Sequential Search) algorithm as a PLA, which is the most direct way of finding the index, </a:t>
            </a:r>
            <a:r>
              <a:rPr lang="en-IN" sz="1800" kern="100" dirty="0" err="1">
                <a:effectLst/>
                <a:latin typeface="Times New Roman" panose="02020603050405020304" pitchFamily="18" charset="0"/>
                <a:ea typeface="Calibri" panose="020F0502020204030204" pitchFamily="34" charset="0"/>
                <a:cs typeface="Cordia New" panose="020B0304020202020204" pitchFamily="34" charset="-34"/>
              </a:rPr>
              <a:t>i</a:t>
            </a: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 of the region R corresponding to the current state, x0. </a:t>
            </a:r>
          </a:p>
          <a:p>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After getting the index of the region, the optimal control action is obtained by evaluating the corresponding PWA function . </a:t>
            </a:r>
          </a:p>
          <a:p>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We store all the data related to regions and PWA function, i.e., (Zi, zi, Li, </a:t>
            </a:r>
            <a:r>
              <a:rPr lang="en-IN" sz="1800" kern="100" dirty="0" err="1">
                <a:effectLst/>
                <a:latin typeface="Times New Roman" panose="02020603050405020304" pitchFamily="18" charset="0"/>
                <a:ea typeface="Calibri" panose="020F0502020204030204" pitchFamily="34" charset="0"/>
                <a:cs typeface="Cordia New" panose="020B0304020202020204" pitchFamily="34" charset="-34"/>
              </a:rPr>
              <a:t>gi</a:t>
            </a: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 in the form of LUTs for the online synthesis of EMPC.</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IN" sz="1800" dirty="0"/>
          </a:p>
        </p:txBody>
      </p:sp>
    </p:spTree>
    <p:extLst>
      <p:ext uri="{BB962C8B-B14F-4D97-AF65-F5344CB8AC3E}">
        <p14:creationId xmlns:p14="http://schemas.microsoft.com/office/powerpoint/2010/main" val="1719680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1869-2FCA-1A42-ED32-BBD0EAFCE285}"/>
              </a:ext>
            </a:extLst>
          </p:cNvPr>
          <p:cNvSpPr>
            <a:spLocks noGrp="1"/>
          </p:cNvSpPr>
          <p:nvPr>
            <p:ph type="ctrTitle"/>
          </p:nvPr>
        </p:nvSpPr>
        <p:spPr>
          <a:xfrm>
            <a:off x="1524000" y="432619"/>
            <a:ext cx="9144000" cy="943897"/>
          </a:xfrm>
        </p:spPr>
        <p:txBody>
          <a:bodyPr>
            <a:normAutofit/>
          </a:bodyPr>
          <a:lstStyle/>
          <a:p>
            <a:r>
              <a:rPr lang="en-IN" dirty="0"/>
              <a:t>Results and conclusion</a:t>
            </a:r>
          </a:p>
        </p:txBody>
      </p:sp>
      <p:sp>
        <p:nvSpPr>
          <p:cNvPr id="3" name="Subtitle 2">
            <a:extLst>
              <a:ext uri="{FF2B5EF4-FFF2-40B4-BE49-F238E27FC236}">
                <a16:creationId xmlns:a16="http://schemas.microsoft.com/office/drawing/2014/main" id="{FA62CF12-10A4-AA1C-E943-C7269C6267F4}"/>
              </a:ext>
            </a:extLst>
          </p:cNvPr>
          <p:cNvSpPr>
            <a:spLocks noGrp="1"/>
          </p:cNvSpPr>
          <p:nvPr>
            <p:ph type="subTitle" idx="1"/>
          </p:nvPr>
        </p:nvSpPr>
        <p:spPr>
          <a:xfrm>
            <a:off x="1524000" y="1563329"/>
            <a:ext cx="9144000" cy="3881284"/>
          </a:xfrm>
        </p:spPr>
        <p:txBody>
          <a:bodyPr>
            <a:normAutofit/>
          </a:bodyPr>
          <a:lstStyle/>
          <a:p>
            <a:r>
              <a:rPr lang="en-IN" dirty="0"/>
              <a:t>Output waveform</a:t>
            </a:r>
          </a:p>
        </p:txBody>
      </p:sp>
      <p:pic>
        <p:nvPicPr>
          <p:cNvPr id="4" name="Picture 3">
            <a:extLst>
              <a:ext uri="{FF2B5EF4-FFF2-40B4-BE49-F238E27FC236}">
                <a16:creationId xmlns:a16="http://schemas.microsoft.com/office/drawing/2014/main" id="{3E5974A8-B883-FB81-C0B8-6B76DEDB38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72363" y="2725546"/>
            <a:ext cx="7647273" cy="2184781"/>
          </a:xfrm>
          <a:prstGeom prst="rect">
            <a:avLst/>
          </a:prstGeom>
          <a:noFill/>
          <a:ln>
            <a:noFill/>
          </a:ln>
        </p:spPr>
      </p:pic>
    </p:spTree>
    <p:extLst>
      <p:ext uri="{BB962C8B-B14F-4D97-AF65-F5344CB8AC3E}">
        <p14:creationId xmlns:p14="http://schemas.microsoft.com/office/powerpoint/2010/main" val="1977415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91615-4993-5650-00BF-C52AF142E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8AC23-CAE7-40CF-926E-C4BAB6A0A82E}"/>
              </a:ext>
            </a:extLst>
          </p:cNvPr>
          <p:cNvSpPr>
            <a:spLocks noGrp="1"/>
          </p:cNvSpPr>
          <p:nvPr>
            <p:ph type="ctrTitle"/>
          </p:nvPr>
        </p:nvSpPr>
        <p:spPr>
          <a:xfrm>
            <a:off x="1524000" y="432619"/>
            <a:ext cx="9144000" cy="943897"/>
          </a:xfrm>
        </p:spPr>
        <p:txBody>
          <a:bodyPr>
            <a:normAutofit/>
          </a:bodyPr>
          <a:lstStyle/>
          <a:p>
            <a:r>
              <a:rPr lang="en-IN" dirty="0"/>
              <a:t>Results and conclusion</a:t>
            </a:r>
          </a:p>
        </p:txBody>
      </p:sp>
      <p:sp>
        <p:nvSpPr>
          <p:cNvPr id="3" name="Subtitle 2">
            <a:extLst>
              <a:ext uri="{FF2B5EF4-FFF2-40B4-BE49-F238E27FC236}">
                <a16:creationId xmlns:a16="http://schemas.microsoft.com/office/drawing/2014/main" id="{E96221DA-E21A-E429-4661-819DA6D0F2F8}"/>
              </a:ext>
            </a:extLst>
          </p:cNvPr>
          <p:cNvSpPr>
            <a:spLocks noGrp="1"/>
          </p:cNvSpPr>
          <p:nvPr>
            <p:ph type="subTitle" idx="1"/>
          </p:nvPr>
        </p:nvSpPr>
        <p:spPr>
          <a:xfrm>
            <a:off x="1524000" y="1563329"/>
            <a:ext cx="9144000" cy="3881284"/>
          </a:xfrm>
        </p:spPr>
        <p:txBody>
          <a:bodyPr>
            <a:normAutofit/>
          </a:bodyPr>
          <a:lstStyle/>
          <a:p>
            <a:r>
              <a:rPr lang="en-IN" dirty="0"/>
              <a:t>Implemented Design in VIVADO Xilinx</a:t>
            </a:r>
          </a:p>
        </p:txBody>
      </p:sp>
      <p:pic>
        <p:nvPicPr>
          <p:cNvPr id="5" name="Picture 4">
            <a:extLst>
              <a:ext uri="{FF2B5EF4-FFF2-40B4-BE49-F238E27FC236}">
                <a16:creationId xmlns:a16="http://schemas.microsoft.com/office/drawing/2014/main" id="{436B2DC2-7424-6270-4644-5CA2BE2D48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82685" y="2159254"/>
            <a:ext cx="7637971" cy="4113530"/>
          </a:xfrm>
          <a:prstGeom prst="rect">
            <a:avLst/>
          </a:prstGeom>
          <a:noFill/>
          <a:ln>
            <a:noFill/>
          </a:ln>
        </p:spPr>
      </p:pic>
    </p:spTree>
    <p:extLst>
      <p:ext uri="{BB962C8B-B14F-4D97-AF65-F5344CB8AC3E}">
        <p14:creationId xmlns:p14="http://schemas.microsoft.com/office/powerpoint/2010/main" val="2602767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5463-5E10-CA41-192B-DD738A09F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6B1C3-E2BA-E5DA-E989-46D21B6CA9F4}"/>
              </a:ext>
            </a:extLst>
          </p:cNvPr>
          <p:cNvSpPr>
            <a:spLocks noGrp="1"/>
          </p:cNvSpPr>
          <p:nvPr>
            <p:ph type="ctrTitle"/>
          </p:nvPr>
        </p:nvSpPr>
        <p:spPr>
          <a:xfrm>
            <a:off x="1524000" y="432619"/>
            <a:ext cx="9144000" cy="943897"/>
          </a:xfrm>
        </p:spPr>
        <p:txBody>
          <a:bodyPr>
            <a:normAutofit/>
          </a:bodyPr>
          <a:lstStyle/>
          <a:p>
            <a:r>
              <a:rPr lang="en-IN" dirty="0"/>
              <a:t>Results and conclusion</a:t>
            </a:r>
          </a:p>
        </p:txBody>
      </p:sp>
      <p:sp>
        <p:nvSpPr>
          <p:cNvPr id="3" name="Subtitle 2">
            <a:extLst>
              <a:ext uri="{FF2B5EF4-FFF2-40B4-BE49-F238E27FC236}">
                <a16:creationId xmlns:a16="http://schemas.microsoft.com/office/drawing/2014/main" id="{C268EDFD-D3F7-45E0-6653-794805E0DD4E}"/>
              </a:ext>
            </a:extLst>
          </p:cNvPr>
          <p:cNvSpPr>
            <a:spLocks noGrp="1"/>
          </p:cNvSpPr>
          <p:nvPr>
            <p:ph type="subTitle" idx="1"/>
          </p:nvPr>
        </p:nvSpPr>
        <p:spPr>
          <a:xfrm>
            <a:off x="1524000" y="1563329"/>
            <a:ext cx="9144000" cy="3881284"/>
          </a:xfrm>
        </p:spPr>
        <p:txBody>
          <a:bodyPr>
            <a:normAutofit/>
          </a:bodyPr>
          <a:lstStyle/>
          <a:p>
            <a:r>
              <a:rPr lang="en-IN" dirty="0"/>
              <a:t>Posit Number System : Memory footprint</a:t>
            </a:r>
          </a:p>
        </p:txBody>
      </p:sp>
      <p:pic>
        <p:nvPicPr>
          <p:cNvPr id="5" name="Picture 4">
            <a:extLst>
              <a:ext uri="{FF2B5EF4-FFF2-40B4-BE49-F238E27FC236}">
                <a16:creationId xmlns:a16="http://schemas.microsoft.com/office/drawing/2014/main" id="{97A36B66-0A64-434E-C25D-3F873874AC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517" y="2535174"/>
            <a:ext cx="5760085" cy="2537460"/>
          </a:xfrm>
          <a:prstGeom prst="rect">
            <a:avLst/>
          </a:prstGeom>
          <a:noFill/>
          <a:ln>
            <a:noFill/>
          </a:ln>
        </p:spPr>
      </p:pic>
    </p:spTree>
    <p:extLst>
      <p:ext uri="{BB962C8B-B14F-4D97-AF65-F5344CB8AC3E}">
        <p14:creationId xmlns:p14="http://schemas.microsoft.com/office/powerpoint/2010/main" val="2714040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7702F-6CD2-9A03-E9BB-BE4928E7F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24AA7-E305-75A0-F201-CBDBB187D7C7}"/>
              </a:ext>
            </a:extLst>
          </p:cNvPr>
          <p:cNvSpPr>
            <a:spLocks noGrp="1"/>
          </p:cNvSpPr>
          <p:nvPr>
            <p:ph type="ctrTitle"/>
          </p:nvPr>
        </p:nvSpPr>
        <p:spPr>
          <a:xfrm>
            <a:off x="1524000" y="432619"/>
            <a:ext cx="9144000" cy="943897"/>
          </a:xfrm>
        </p:spPr>
        <p:txBody>
          <a:bodyPr>
            <a:normAutofit/>
          </a:bodyPr>
          <a:lstStyle/>
          <a:p>
            <a:r>
              <a:rPr lang="en-IN" dirty="0"/>
              <a:t>Results and conclusion</a:t>
            </a:r>
          </a:p>
        </p:txBody>
      </p:sp>
      <p:sp>
        <p:nvSpPr>
          <p:cNvPr id="3" name="Subtitle 2">
            <a:extLst>
              <a:ext uri="{FF2B5EF4-FFF2-40B4-BE49-F238E27FC236}">
                <a16:creationId xmlns:a16="http://schemas.microsoft.com/office/drawing/2014/main" id="{B25A9414-2D44-4195-9B74-AF82191342C8}"/>
              </a:ext>
            </a:extLst>
          </p:cNvPr>
          <p:cNvSpPr>
            <a:spLocks noGrp="1"/>
          </p:cNvSpPr>
          <p:nvPr>
            <p:ph type="subTitle" idx="1"/>
          </p:nvPr>
        </p:nvSpPr>
        <p:spPr>
          <a:xfrm>
            <a:off x="1524000" y="1563329"/>
            <a:ext cx="9144000" cy="3881284"/>
          </a:xfrm>
        </p:spPr>
        <p:txBody>
          <a:bodyPr>
            <a:normAutofit/>
          </a:bodyPr>
          <a:lstStyle/>
          <a:p>
            <a:r>
              <a:rPr lang="en-IN" dirty="0"/>
              <a:t>Floating point Number System : Memory footprint</a:t>
            </a:r>
          </a:p>
        </p:txBody>
      </p:sp>
      <p:pic>
        <p:nvPicPr>
          <p:cNvPr id="4" name="Picture 3">
            <a:extLst>
              <a:ext uri="{FF2B5EF4-FFF2-40B4-BE49-F238E27FC236}">
                <a16:creationId xmlns:a16="http://schemas.microsoft.com/office/drawing/2014/main" id="{AAA7F714-91CF-1EEB-E2A3-9CCAB74C50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15957" y="2635291"/>
            <a:ext cx="5760085" cy="2659380"/>
          </a:xfrm>
          <a:prstGeom prst="rect">
            <a:avLst/>
          </a:prstGeom>
          <a:noFill/>
          <a:ln>
            <a:noFill/>
          </a:ln>
        </p:spPr>
      </p:pic>
    </p:spTree>
    <p:extLst>
      <p:ext uri="{BB962C8B-B14F-4D97-AF65-F5344CB8AC3E}">
        <p14:creationId xmlns:p14="http://schemas.microsoft.com/office/powerpoint/2010/main" val="3584870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F17EE-0192-1E44-272A-4670998555F7}"/>
              </a:ext>
            </a:extLst>
          </p:cNvPr>
          <p:cNvSpPr>
            <a:spLocks noGrp="1"/>
          </p:cNvSpPr>
          <p:nvPr>
            <p:ph type="ctrTitle"/>
          </p:nvPr>
        </p:nvSpPr>
        <p:spPr>
          <a:xfrm>
            <a:off x="1524000" y="658761"/>
            <a:ext cx="9144000" cy="941439"/>
          </a:xfrm>
        </p:spPr>
        <p:txBody>
          <a:bodyPr>
            <a:normAutofit/>
          </a:bodyPr>
          <a:lstStyle/>
          <a:p>
            <a:r>
              <a:rPr lang="en-IN" dirty="0"/>
              <a:t>Future work</a:t>
            </a:r>
          </a:p>
        </p:txBody>
      </p:sp>
      <p:sp>
        <p:nvSpPr>
          <p:cNvPr id="3" name="Subtitle 2">
            <a:extLst>
              <a:ext uri="{FF2B5EF4-FFF2-40B4-BE49-F238E27FC236}">
                <a16:creationId xmlns:a16="http://schemas.microsoft.com/office/drawing/2014/main" id="{FC4D7586-8664-DFEB-B28F-AA1C076EAA2F}"/>
              </a:ext>
            </a:extLst>
          </p:cNvPr>
          <p:cNvSpPr>
            <a:spLocks noGrp="1"/>
          </p:cNvSpPr>
          <p:nvPr>
            <p:ph type="subTitle" idx="1"/>
          </p:nvPr>
        </p:nvSpPr>
        <p:spPr>
          <a:xfrm>
            <a:off x="1524000" y="1877962"/>
            <a:ext cx="9144000" cy="3441290"/>
          </a:xfrm>
        </p:spPr>
        <p:txBody>
          <a:bodyPr>
            <a:normAutofit/>
          </a:bodyPr>
          <a:lstStyle/>
          <a:p>
            <a:pPr algn="l">
              <a:spcAft>
                <a:spcPts val="300"/>
              </a:spcAft>
              <a:buFont typeface="Arial" panose="020B0604020202020204" pitchFamily="34" charset="0"/>
              <a:buChar char="•"/>
            </a:pPr>
            <a:r>
              <a:rPr lang="en-US" b="1" i="0" dirty="0">
                <a:solidFill>
                  <a:srgbClr val="404040"/>
                </a:solidFill>
                <a:effectLst/>
                <a:latin typeface="Inter"/>
              </a:rPr>
              <a:t>Extensions</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Apply posit-based EMPC to other real-time control applications.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Optimize posit ALU for further resource reduction.</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Explore posit-based online MPC implementations.</a:t>
            </a:r>
          </a:p>
          <a:p>
            <a:pPr marL="742950" lvl="1" indent="-285750" algn="l">
              <a:spcBef>
                <a:spcPts val="300"/>
              </a:spcBef>
              <a:buFont typeface="Arial" panose="020B0604020202020204" pitchFamily="34" charset="0"/>
              <a:buChar char="•"/>
            </a:pPr>
            <a:r>
              <a:rPr lang="en-US" dirty="0">
                <a:solidFill>
                  <a:srgbClr val="404040"/>
                </a:solidFill>
                <a:latin typeface="Inter"/>
              </a:rPr>
              <a:t>Use BST as a PLA algorithm instead of SS</a:t>
            </a:r>
            <a:endParaRPr lang="en-US" b="0" i="0" dirty="0">
              <a:solidFill>
                <a:srgbClr val="404040"/>
              </a:solidFill>
              <a:effectLst/>
              <a:latin typeface="Inter"/>
            </a:endParaRPr>
          </a:p>
          <a:p>
            <a:pPr lvl="1" algn="l">
              <a:spcBef>
                <a:spcPts val="300"/>
              </a:spcBef>
            </a:pPr>
            <a:endParaRPr lang="en-US" b="0" i="0" dirty="0">
              <a:solidFill>
                <a:srgbClr val="404040"/>
              </a:solidFill>
              <a:effectLst/>
              <a:latin typeface="Inter"/>
            </a:endParaRPr>
          </a:p>
          <a:p>
            <a:pPr algn="l">
              <a:spcBef>
                <a:spcPts val="300"/>
              </a:spcBef>
              <a:spcAft>
                <a:spcPts val="300"/>
              </a:spcAft>
              <a:buFont typeface="Arial" panose="020B0604020202020204" pitchFamily="34" charset="0"/>
              <a:buChar char="•"/>
            </a:pPr>
            <a:r>
              <a:rPr lang="en-US" b="1" i="0" dirty="0">
                <a:solidFill>
                  <a:srgbClr val="404040"/>
                </a:solidFill>
                <a:effectLst/>
                <a:latin typeface="Inter"/>
              </a:rPr>
              <a:t>Long-Term Goals</a:t>
            </a:r>
            <a:r>
              <a:rPr lang="en-US"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Develop standardized posit arithmetic libraries for FPGAs.</a:t>
            </a:r>
          </a:p>
          <a:p>
            <a:pPr marL="742950" lvl="1" indent="-285750" algn="l">
              <a:spcBef>
                <a:spcPts val="300"/>
              </a:spcBef>
              <a:buFont typeface="Arial" panose="020B0604020202020204" pitchFamily="34" charset="0"/>
              <a:buChar char="•"/>
            </a:pPr>
            <a:r>
              <a:rPr lang="en-US" b="0" i="0" dirty="0">
                <a:solidFill>
                  <a:srgbClr val="404040"/>
                </a:solidFill>
                <a:effectLst/>
                <a:latin typeface="Inter"/>
              </a:rPr>
              <a:t>Investigate posit-based implementations in machine learning and AI.</a:t>
            </a:r>
          </a:p>
          <a:p>
            <a:endParaRPr lang="en-IN" dirty="0"/>
          </a:p>
        </p:txBody>
      </p:sp>
    </p:spTree>
    <p:extLst>
      <p:ext uri="{BB962C8B-B14F-4D97-AF65-F5344CB8AC3E}">
        <p14:creationId xmlns:p14="http://schemas.microsoft.com/office/powerpoint/2010/main" val="2084197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A10A9-1F78-6CAD-DF0D-FB97E72F5938}"/>
              </a:ext>
            </a:extLst>
          </p:cNvPr>
          <p:cNvSpPr>
            <a:spLocks noGrp="1"/>
          </p:cNvSpPr>
          <p:nvPr>
            <p:ph type="title"/>
          </p:nvPr>
        </p:nvSpPr>
        <p:spPr/>
        <p:txBody>
          <a:bodyPr/>
          <a:lstStyle/>
          <a:p>
            <a:r>
              <a:rPr lang="en-IN" dirty="0"/>
              <a:t>Code Snippets : Posit Addition</a:t>
            </a:r>
          </a:p>
        </p:txBody>
      </p:sp>
      <p:pic>
        <p:nvPicPr>
          <p:cNvPr id="5" name="Content Placeholder 4">
            <a:extLst>
              <a:ext uri="{FF2B5EF4-FFF2-40B4-BE49-F238E27FC236}">
                <a16:creationId xmlns:a16="http://schemas.microsoft.com/office/drawing/2014/main" id="{0CEFFB66-8219-5E5D-0448-D84105F9E0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4581" y="1600200"/>
            <a:ext cx="4896533" cy="4363518"/>
          </a:xfrm>
        </p:spPr>
      </p:pic>
    </p:spTree>
    <p:extLst>
      <p:ext uri="{BB962C8B-B14F-4D97-AF65-F5344CB8AC3E}">
        <p14:creationId xmlns:p14="http://schemas.microsoft.com/office/powerpoint/2010/main" val="1038094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B0EB4-C927-0ABE-F62D-12A53DCAB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D965A-830B-A586-4CDC-E02A58B6DEF7}"/>
              </a:ext>
            </a:extLst>
          </p:cNvPr>
          <p:cNvSpPr>
            <a:spLocks noGrp="1"/>
          </p:cNvSpPr>
          <p:nvPr>
            <p:ph type="title"/>
          </p:nvPr>
        </p:nvSpPr>
        <p:spPr/>
        <p:txBody>
          <a:bodyPr/>
          <a:lstStyle/>
          <a:p>
            <a:r>
              <a:rPr lang="en-IN" dirty="0"/>
              <a:t>Code Snippets : Posit Multiplication</a:t>
            </a:r>
          </a:p>
        </p:txBody>
      </p:sp>
      <p:pic>
        <p:nvPicPr>
          <p:cNvPr id="7" name="Content Placeholder 6">
            <a:extLst>
              <a:ext uri="{FF2B5EF4-FFF2-40B4-BE49-F238E27FC236}">
                <a16:creationId xmlns:a16="http://schemas.microsoft.com/office/drawing/2014/main" id="{8411ACB7-E3B0-088E-FCD9-1F92AED614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3472" y="1792224"/>
            <a:ext cx="3928888" cy="1700784"/>
          </a:xfrm>
        </p:spPr>
      </p:pic>
      <p:pic>
        <p:nvPicPr>
          <p:cNvPr id="9" name="Picture 8">
            <a:extLst>
              <a:ext uri="{FF2B5EF4-FFF2-40B4-BE49-F238E27FC236}">
                <a16:creationId xmlns:a16="http://schemas.microsoft.com/office/drawing/2014/main" id="{74D36D8C-E467-3327-502E-B9C9DC456A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7480" y="3493008"/>
            <a:ext cx="7141938" cy="2999867"/>
          </a:xfrm>
          <a:prstGeom prst="rect">
            <a:avLst/>
          </a:prstGeom>
        </p:spPr>
      </p:pic>
    </p:spTree>
    <p:extLst>
      <p:ext uri="{BB962C8B-B14F-4D97-AF65-F5344CB8AC3E}">
        <p14:creationId xmlns:p14="http://schemas.microsoft.com/office/powerpoint/2010/main" val="685721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D83AF-6FC0-099D-6586-78678BB97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8625A-FCE0-8B1D-938E-260D511F2A32}"/>
              </a:ext>
            </a:extLst>
          </p:cNvPr>
          <p:cNvSpPr>
            <a:spLocks noGrp="1"/>
          </p:cNvSpPr>
          <p:nvPr>
            <p:ph type="title"/>
          </p:nvPr>
        </p:nvSpPr>
        <p:spPr/>
        <p:txBody>
          <a:bodyPr/>
          <a:lstStyle/>
          <a:p>
            <a:r>
              <a:rPr lang="en-IN" dirty="0"/>
              <a:t>Code Snippets : Posit Addition</a:t>
            </a:r>
          </a:p>
        </p:txBody>
      </p:sp>
      <p:pic>
        <p:nvPicPr>
          <p:cNvPr id="5" name="Content Placeholder 4">
            <a:extLst>
              <a:ext uri="{FF2B5EF4-FFF2-40B4-BE49-F238E27FC236}">
                <a16:creationId xmlns:a16="http://schemas.microsoft.com/office/drawing/2014/main" id="{C4A63129-FB9C-28C2-3556-9E4551F038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4581" y="1600200"/>
            <a:ext cx="4896533" cy="4363518"/>
          </a:xfrm>
        </p:spPr>
      </p:pic>
    </p:spTree>
    <p:extLst>
      <p:ext uri="{BB962C8B-B14F-4D97-AF65-F5344CB8AC3E}">
        <p14:creationId xmlns:p14="http://schemas.microsoft.com/office/powerpoint/2010/main" val="2641340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8B047-41AA-4587-ABBC-892AA2D4C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D276F-396E-F9C3-A82C-13183B37D6E7}"/>
              </a:ext>
            </a:extLst>
          </p:cNvPr>
          <p:cNvSpPr>
            <a:spLocks noGrp="1"/>
          </p:cNvSpPr>
          <p:nvPr>
            <p:ph type="title"/>
          </p:nvPr>
        </p:nvSpPr>
        <p:spPr/>
        <p:txBody>
          <a:bodyPr/>
          <a:lstStyle/>
          <a:p>
            <a:r>
              <a:rPr lang="en-IN" dirty="0"/>
              <a:t>Code Snippets : PWA control</a:t>
            </a:r>
          </a:p>
        </p:txBody>
      </p:sp>
      <p:pic>
        <p:nvPicPr>
          <p:cNvPr id="7" name="Content Placeholder 6">
            <a:extLst>
              <a:ext uri="{FF2B5EF4-FFF2-40B4-BE49-F238E27FC236}">
                <a16:creationId xmlns:a16="http://schemas.microsoft.com/office/drawing/2014/main" id="{E68248E5-6B9C-58A8-E855-FCA571F478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74136" y="1825624"/>
            <a:ext cx="4965192" cy="4748911"/>
          </a:xfrm>
        </p:spPr>
      </p:pic>
    </p:spTree>
    <p:extLst>
      <p:ext uri="{BB962C8B-B14F-4D97-AF65-F5344CB8AC3E}">
        <p14:creationId xmlns:p14="http://schemas.microsoft.com/office/powerpoint/2010/main" val="473232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55530-2DA1-47FF-1D8F-60B21B2C1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F8977-9040-7263-84CB-E2F83F32E00B}"/>
              </a:ext>
            </a:extLst>
          </p:cNvPr>
          <p:cNvSpPr>
            <a:spLocks noGrp="1"/>
          </p:cNvSpPr>
          <p:nvPr>
            <p:ph type="title"/>
          </p:nvPr>
        </p:nvSpPr>
        <p:spPr/>
        <p:txBody>
          <a:bodyPr/>
          <a:lstStyle/>
          <a:p>
            <a:r>
              <a:rPr lang="en-IN" dirty="0"/>
              <a:t>Code Snippets : PWA control</a:t>
            </a:r>
          </a:p>
        </p:txBody>
      </p:sp>
      <p:pic>
        <p:nvPicPr>
          <p:cNvPr id="6" name="Content Placeholder 5">
            <a:extLst>
              <a:ext uri="{FF2B5EF4-FFF2-40B4-BE49-F238E27FC236}">
                <a16:creationId xmlns:a16="http://schemas.microsoft.com/office/drawing/2014/main" id="{5B130A0A-EDA1-4F90-4086-DA81B05936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4328" y="1609344"/>
            <a:ext cx="5879592" cy="5102351"/>
          </a:xfrm>
        </p:spPr>
      </p:pic>
    </p:spTree>
    <p:extLst>
      <p:ext uri="{BB962C8B-B14F-4D97-AF65-F5344CB8AC3E}">
        <p14:creationId xmlns:p14="http://schemas.microsoft.com/office/powerpoint/2010/main" val="3816390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2463</Words>
  <Application>Microsoft Office PowerPoint</Application>
  <PresentationFormat>Widescreen</PresentationFormat>
  <Paragraphs>275</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INDEX</vt:lpstr>
      <vt:lpstr>Abstract</vt:lpstr>
      <vt:lpstr>Introduction</vt:lpstr>
      <vt:lpstr>Problem statement</vt:lpstr>
      <vt:lpstr>Motivation</vt:lpstr>
      <vt:lpstr>Novelty</vt:lpstr>
      <vt:lpstr>Objectives</vt:lpstr>
      <vt:lpstr>Implementation Steps</vt:lpstr>
      <vt:lpstr>Implementation Workflow</vt:lpstr>
      <vt:lpstr>Theory:-Posit number system</vt:lpstr>
      <vt:lpstr>Theory:-Posit number system</vt:lpstr>
      <vt:lpstr>POSIT ALU implementation</vt:lpstr>
      <vt:lpstr>POSIT ALU implementation</vt:lpstr>
      <vt:lpstr>POSIT ALU implementation</vt:lpstr>
      <vt:lpstr>POSIT ALU implementation</vt:lpstr>
      <vt:lpstr>Theory : Model Predictive Control</vt:lpstr>
      <vt:lpstr>Theory : Model Predictive Control</vt:lpstr>
      <vt:lpstr>Theory : Model Predictive Control</vt:lpstr>
      <vt:lpstr>Theory : Model Predictive Control</vt:lpstr>
      <vt:lpstr>Theory : Model Predictive Control</vt:lpstr>
      <vt:lpstr>Implementation of EMPC using MATLAB and Verilog</vt:lpstr>
      <vt:lpstr>Implementation of EMPC using MATLAB and Verilog</vt:lpstr>
      <vt:lpstr>Results and conclusion</vt:lpstr>
      <vt:lpstr>Results and conclusion</vt:lpstr>
      <vt:lpstr>Results and conclusion</vt:lpstr>
      <vt:lpstr>Results and conclusion</vt:lpstr>
      <vt:lpstr>Future work</vt:lpstr>
      <vt:lpstr>Code Snippets : Posit Addition</vt:lpstr>
      <vt:lpstr>Code Snippets : Posit Multiplication</vt:lpstr>
      <vt:lpstr>Code Snippets : Posit Addition</vt:lpstr>
      <vt:lpstr>Code Snippets : PWA control</vt:lpstr>
      <vt:lpstr>Code Snippets : PWA control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Ramanuj Sharma</dc:creator>
  <cp:lastModifiedBy>VIVEK KUMAR KANDURI</cp:lastModifiedBy>
  <cp:revision>14</cp:revision>
  <dcterms:created xsi:type="dcterms:W3CDTF">2025-03-23T08:49:12Z</dcterms:created>
  <dcterms:modified xsi:type="dcterms:W3CDTF">2025-03-24T02:28:19Z</dcterms:modified>
</cp:coreProperties>
</file>